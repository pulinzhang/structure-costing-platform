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5486400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 spc="40">
                <a:solidFill>
                  <a:srgbClr val="FFFFFF"/>
                </a:solidFill>
                <a:latin typeface="微软雅黑"/>
                <a:ea typeface="微软雅黑"/>
                <a:latin typeface="微软雅黑"/>
              </a:rPr>
              <a:t>普炳软件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170432"/>
            <a:ext cx="1463040" cy="0"/>
          </a:xfrm>
          <a:prstGeom prst="line">
            <a:avLst/>
          </a:prstGeom>
          <a:ln w="28575">
            <a:solidFill>
              <a:srgbClr val="D04A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353312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D04A02"/>
                </a:solidFill>
                <a:latin typeface="微软雅黑"/>
                <a:ea typeface="微软雅黑"/>
                <a:latin typeface="微软雅黑"/>
              </a:rPr>
              <a:t>从靠人做表，到公司能力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9728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latin typeface="微软雅黑"/>
              </a:rPr>
              <a:t>结构件自动核价平台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26080"/>
            <a:ext cx="1042416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3600"/>
              </a:lnSpc>
            </a:pPr>
            <a:r>
              <a:rPr sz="2200" b="0">
                <a:solidFill>
                  <a:srgbClr val="C8C8C8"/>
                </a:solidFill>
                <a:latin typeface="微软雅黑"/>
                <a:ea typeface="微软雅黑"/>
                <a:latin typeface="微软雅黑"/>
              </a:rPr>
              <a:t>管理人员是公司的建设者。</a:t>
            </a:r>
          </a:p>
          <a:p>
            <a:pPr algn="l">
              <a:lnSpc>
                <a:spcPts val="3600"/>
              </a:lnSpc>
            </a:pPr>
            <a:r>
              <a:rPr sz="2200" b="0">
                <a:solidFill>
                  <a:srgbClr val="C8C8C8"/>
                </a:solidFill>
                <a:latin typeface="微软雅黑"/>
                <a:ea typeface="微软雅黑"/>
                <a:latin typeface="微软雅黑"/>
              </a:rPr>
              <a:t>核价，是数字化建设、AI 落地最好的抓手。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26364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C8C8C8"/>
                </a:solidFill>
                <a:latin typeface="微软雅黑"/>
                <a:ea typeface="微软雅黑"/>
                <a:latin typeface="微软雅黑"/>
              </a:rPr>
              <a:t>普炳软件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0" y="6263640"/>
            <a:ext cx="20116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0">
                <a:solidFill>
                  <a:srgbClr val="C8C8C8"/>
                </a:solidFill>
                <a:latin typeface="Arial"/>
                <a:ea typeface="微软雅黑"/>
                <a:latin typeface="Arial"/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20624"/>
            <a:ext cx="256032" cy="54864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347472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 spc="20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01   THE LEVER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spc="2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数字化、AI 要落地，核价是最好的抓手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建设不是再上一个系统。是把公司最痛、最有规则、立刻能见效的事做成能力。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057400"/>
            <a:ext cx="361188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05740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331720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有规则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71800"/>
            <a:ext cx="3108960" cy="2560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钢价政策、工艺、BOM、设变，本来就有企业口径。</a:t>
            </a:r>
          </a:p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适合写成引擎，而不是口头 AI。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057400"/>
            <a:ext cx="361188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205740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90872" y="2331720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有真账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0872" y="2971800"/>
            <a:ext cx="3108960" cy="2560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开给奇瑞的总成价、付给二级商的采购价，每月都要对账。</a:t>
            </a:r>
          </a:p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建设立刻碰到钱。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2057400"/>
            <a:ext cx="361188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205740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85632" y="2331720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立刻见效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85632" y="2971800"/>
            <a:ext cx="3108960" cy="2560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一事一议以前要熟练人员做好几天。</a:t>
            </a:r>
          </a:p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上传后引擎约 20 秒。AI 问的是这本真账。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0080" y="6510528"/>
            <a:ext cx="10908792" cy="0"/>
          </a:xfrm>
          <a:prstGeom prst="line">
            <a:avLst/>
          </a:prstGeom>
          <a:ln w="7620">
            <a:solidFill>
              <a:srgbClr val="E6E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 spc="40">
                <a:solidFill>
                  <a:srgbClr val="8A8A8A"/>
                </a:solidFill>
                <a:latin typeface="微软雅黑"/>
                <a:ea typeface="微软雅黑"/>
                <a:latin typeface="微软雅黑"/>
              </a:rPr>
              <a:t>普炳软件  ·  核价平台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656539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 spc="40">
                <a:solidFill>
                  <a:srgbClr val="8A8A8A"/>
                </a:solidFill>
                <a:latin typeface="Arial"/>
                <a:ea typeface="微软雅黑"/>
                <a:latin typeface="Arial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20624"/>
            <a:ext cx="256032" cy="54864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347472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 spc="20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02   WHAT IT 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spc="2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结构件自动核价平台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89888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6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政策、BOM、工艺、变更纳入同一套规则。算出总成与采购对象价格，直接出协议；AI 解读动因。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9456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9456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487168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spc="8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Policy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26080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钢价一事一议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9456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219456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90872" y="2487168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spc="8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BOM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0872" y="2926080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结构与外购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219456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219456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85632" y="2487168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spc="8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Process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85632" y="2926080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工艺与模具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1605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16052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4453128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spc="8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Change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" y="4892040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工程变更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34840" y="41605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34840" y="416052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90872" y="4453128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spc="8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Costing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0872" y="4892040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件价与总成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0" y="41605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9600" y="416052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85632" y="4453128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spc="8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Contract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85632" y="4892040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采购协议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40080" y="6510528"/>
            <a:ext cx="10908792" cy="0"/>
          </a:xfrm>
          <a:prstGeom prst="line">
            <a:avLst/>
          </a:prstGeom>
          <a:ln w="7620">
            <a:solidFill>
              <a:srgbClr val="E6E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 spc="40">
                <a:solidFill>
                  <a:srgbClr val="8A8A8A"/>
                </a:solidFill>
                <a:latin typeface="微软雅黑"/>
                <a:ea typeface="微软雅黑"/>
                <a:latin typeface="微软雅黑"/>
              </a:rPr>
              <a:t>普炳软件  ·  核价平台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09760" y="656539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 spc="40">
                <a:solidFill>
                  <a:srgbClr val="8A8A8A"/>
                </a:solidFill>
                <a:latin typeface="Arial"/>
                <a:ea typeface="微软雅黑"/>
                <a:latin typeface="Arial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20624"/>
            <a:ext cx="256032" cy="54864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347472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 spc="20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03   SHIFT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spc="2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不是把 Excel 做得更复杂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521208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554480"/>
            <a:ext cx="52120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874519"/>
            <a:ext cx="4572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8A8A8A"/>
                </a:solidFill>
                <a:latin typeface="微软雅黑"/>
                <a:ea typeface="微软雅黑"/>
                <a:latin typeface="微软雅黑"/>
              </a:rPr>
              <a:t>不是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286000"/>
            <a:ext cx="466344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再做一张更大的表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474720"/>
            <a:ext cx="4526280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公式在私人文件夹。口径靠骨干记忆。对奇瑞、对二级商，各执一份表，只能扯皮。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554480"/>
            <a:ext cx="521208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554480"/>
            <a:ext cx="52120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874519"/>
            <a:ext cx="4572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D04A02"/>
                </a:solidFill>
                <a:latin typeface="微软雅黑"/>
                <a:ea typeface="微软雅黑"/>
                <a:latin typeface="微软雅黑"/>
              </a:rPr>
              <a:t>而是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286000"/>
            <a:ext cx="466344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把核价变成公司能力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474720"/>
            <a:ext cx="4572000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规则、依据、结果留在平台。人可以交接。这是数字化建设真正落地的那一步。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0080" y="6510528"/>
            <a:ext cx="10908792" cy="0"/>
          </a:xfrm>
          <a:prstGeom prst="line">
            <a:avLst/>
          </a:prstGeom>
          <a:ln w="7620">
            <a:solidFill>
              <a:srgbClr val="E6E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 spc="40">
                <a:solidFill>
                  <a:srgbClr val="8A8A8A"/>
                </a:solidFill>
                <a:latin typeface="微软雅黑"/>
                <a:ea typeface="微软雅黑"/>
                <a:latin typeface="微软雅黑"/>
              </a:rPr>
              <a:t>普炳软件  ·  核价平台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656539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 spc="40">
                <a:solidFill>
                  <a:srgbClr val="8A8A8A"/>
                </a:solidFill>
                <a:latin typeface="Arial"/>
                <a:ea typeface="微软雅黑"/>
                <a:latin typeface="Arial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20624"/>
            <a:ext cx="256032" cy="54864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347472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 spc="20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04   TWO BOOKS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spc="2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两本钱要对齐，设变不能再是糊涂账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361188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55448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874519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D04A02"/>
                </a:solidFill>
                <a:latin typeface="微软雅黑"/>
                <a:ea typeface="微软雅黑"/>
                <a:latin typeface="微软雅黑"/>
              </a:rPr>
              <a:t>商务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86000"/>
            <a:ext cx="310896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总成价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246120"/>
            <a:ext cx="3108960" cy="2286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开票给奇瑞的售价。谈价、开票、对账看这一本。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554480"/>
            <a:ext cx="361188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55448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90872" y="1874519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D04A02"/>
                </a:solidFill>
                <a:latin typeface="微软雅黑"/>
                <a:ea typeface="微软雅黑"/>
                <a:latin typeface="微软雅黑"/>
              </a:rPr>
              <a:t>采购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0872" y="2286000"/>
            <a:ext cx="310896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采购对象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90872" y="3246120"/>
            <a:ext cx="3108960" cy="2286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向二级商采购的价。该付多少、协议怎么签看这一本。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1554480"/>
            <a:ext cx="361188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55448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85632" y="1874519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D04A02"/>
                </a:solidFill>
                <a:latin typeface="微软雅黑"/>
                <a:ea typeface="微软雅黑"/>
                <a:latin typeface="微软雅黑"/>
              </a:rPr>
              <a:t>工程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85632" y="2286000"/>
            <a:ext cx="310896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当期用当期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85632" y="3246120"/>
            <a:ext cx="3108960" cy="2286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Excel 里设变是糊涂账。变更进系统，开票和应付一起跟上。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0080" y="6510528"/>
            <a:ext cx="10908792" cy="0"/>
          </a:xfrm>
          <a:prstGeom prst="line">
            <a:avLst/>
          </a:prstGeom>
          <a:ln w="7620">
            <a:solidFill>
              <a:srgbClr val="E6E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 spc="40">
                <a:solidFill>
                  <a:srgbClr val="8A8A8A"/>
                </a:solidFill>
                <a:latin typeface="微软雅黑"/>
                <a:ea typeface="微软雅黑"/>
                <a:latin typeface="微软雅黑"/>
              </a:rPr>
              <a:t>普炳软件  ·  核价平台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0" y="656539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 spc="40">
                <a:solidFill>
                  <a:srgbClr val="8A8A8A"/>
                </a:solidFill>
                <a:latin typeface="Arial"/>
                <a:ea typeface="微软雅黑"/>
                <a:latin typeface="Arial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20624"/>
            <a:ext cx="256032" cy="54864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347472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 spc="20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05   FIRST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spc="2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第一价值：降低对人的依赖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521208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554480"/>
            <a:ext cx="52120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874519"/>
            <a:ext cx="4572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8A8A8A"/>
                </a:solidFill>
                <a:latin typeface="微软雅黑"/>
                <a:ea typeface="微软雅黑"/>
                <a:latin typeface="微软雅黑"/>
              </a:rPr>
              <a:t>以前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286000"/>
            <a:ext cx="4663440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4200"/>
              </a:lnSpc>
            </a:pPr>
            <a:r>
              <a:rPr sz="3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熟练人员</a:t>
            </a:r>
          </a:p>
          <a:p>
            <a:pPr algn="l">
              <a:lnSpc>
                <a:spcPts val="4200"/>
              </a:lnSpc>
            </a:pPr>
            <a:r>
              <a:rPr sz="3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好几天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023360"/>
            <a:ext cx="4526280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一事一议、总成、采购对象靠骨干手感。</a:t>
            </a:r>
          </a:p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人一走，账就停。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554480"/>
            <a:ext cx="521208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554480"/>
            <a:ext cx="52120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874519"/>
            <a:ext cx="4572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D04A02"/>
                </a:solidFill>
                <a:latin typeface="微软雅黑"/>
                <a:ea typeface="微软雅黑"/>
                <a:latin typeface="微软雅黑"/>
              </a:rPr>
              <a:t>现在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286000"/>
            <a:ext cx="4663440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4200"/>
              </a:lnSpc>
            </a:pPr>
            <a:r>
              <a:rPr sz="3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上传依据</a:t>
            </a:r>
          </a:p>
          <a:p>
            <a:pPr algn="l">
              <a:lnSpc>
                <a:spcPts val="4200"/>
              </a:lnSpc>
            </a:pPr>
            <a:r>
              <a:rPr sz="3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约 20 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4023360"/>
            <a:ext cx="4572000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规则在引擎里。人请假，总成账和采购账照样能出。</a:t>
            </a:r>
          </a:p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能力属于公司。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0080" y="6510528"/>
            <a:ext cx="10908792" cy="0"/>
          </a:xfrm>
          <a:prstGeom prst="line">
            <a:avLst/>
          </a:prstGeom>
          <a:ln w="7620">
            <a:solidFill>
              <a:srgbClr val="E6E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 spc="40">
                <a:solidFill>
                  <a:srgbClr val="8A8A8A"/>
                </a:solidFill>
                <a:latin typeface="微软雅黑"/>
                <a:ea typeface="微软雅黑"/>
                <a:latin typeface="微软雅黑"/>
              </a:rPr>
              <a:t>普炳软件  ·  核价平台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656539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 spc="40">
                <a:solidFill>
                  <a:srgbClr val="8A8A8A"/>
                </a:solidFill>
                <a:latin typeface="Arial"/>
                <a:ea typeface="微软雅黑"/>
                <a:latin typeface="Arial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20624"/>
            <a:ext cx="256032" cy="54864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347472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 spc="20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06   SECOND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spc="2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第二价值：溯源清楚，不必再扯皮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508760"/>
            <a:ext cx="5532120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508760"/>
            <a:ext cx="553212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828800"/>
            <a:ext cx="4937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哪份文件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468880"/>
            <a:ext cx="493776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6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当时用的 Excel 能找回，不是私人拷贝。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508760"/>
            <a:ext cx="5532120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1508760"/>
            <a:ext cx="553212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93408" y="1828800"/>
            <a:ext cx="4937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谁操作的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3408" y="2468880"/>
            <a:ext cx="493776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6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上传、计算、变更有日志。对账问记录。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794760"/>
            <a:ext cx="5532120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794760"/>
            <a:ext cx="553212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4114800"/>
            <a:ext cx="4937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当期哪版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4754880"/>
            <a:ext cx="493776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6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钢价、BOM、工艺、设变按月对齐。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3794760"/>
            <a:ext cx="5532120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0" y="3794760"/>
            <a:ext cx="553212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93408" y="4114800"/>
            <a:ext cx="4937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同一套规则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93408" y="4754880"/>
            <a:ext cx="493776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6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开给奇瑞和付给二级商，同一引擎。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0080" y="6510528"/>
            <a:ext cx="10908792" cy="0"/>
          </a:xfrm>
          <a:prstGeom prst="line">
            <a:avLst/>
          </a:prstGeom>
          <a:ln w="7620">
            <a:solidFill>
              <a:srgbClr val="E6E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 spc="40">
                <a:solidFill>
                  <a:srgbClr val="8A8A8A"/>
                </a:solidFill>
                <a:latin typeface="微软雅黑"/>
                <a:ea typeface="微软雅黑"/>
                <a:latin typeface="微软雅黑"/>
              </a:rPr>
              <a:t>普炳软件  ·  核价平台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09760" y="656539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 spc="40">
                <a:solidFill>
                  <a:srgbClr val="8A8A8A"/>
                </a:solidFill>
                <a:latin typeface="Arial"/>
                <a:ea typeface="微软雅黑"/>
                <a:latin typeface="Arial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20624"/>
            <a:ext cx="256032" cy="54864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347472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 spc="20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07  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spc="2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四项价值，进的是公司而不是个人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508760"/>
            <a:ext cx="5532120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508760"/>
            <a:ext cx="553212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764792"/>
            <a:ext cx="10972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03120"/>
            <a:ext cx="493776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少绑人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606040"/>
            <a:ext cx="493776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200"/>
              </a:lnSpc>
            </a:pPr>
            <a:r>
              <a:rPr sz="14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核价能力属于公司。熟练骨干好几天，变成约 20 秒。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508760"/>
            <a:ext cx="5532120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1508760"/>
            <a:ext cx="553212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3408" y="1764792"/>
            <a:ext cx="10972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3408" y="2103120"/>
            <a:ext cx="493776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少扯皮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408" y="2606040"/>
            <a:ext cx="493776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200"/>
              </a:lnSpc>
            </a:pPr>
            <a:r>
              <a:rPr sz="14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文件、操作、当期依据可对。对奇瑞、对二级商、对财务同一本账。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794760"/>
            <a:ext cx="5532120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794760"/>
            <a:ext cx="553212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050792"/>
            <a:ext cx="10972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4389120"/>
            <a:ext cx="493776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算得一致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892040"/>
            <a:ext cx="493776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200"/>
              </a:lnSpc>
            </a:pPr>
            <a:r>
              <a:rPr sz="14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同一套规则、同一套口径。</a:t>
            </a:r>
          </a:p>
          <a:p>
            <a:pPr algn="l">
              <a:lnSpc>
                <a:spcPts val="2200"/>
              </a:lnSpc>
            </a:pPr>
            <a:r>
              <a:rPr sz="14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总成售价和采购应付不再各算各的。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3794760"/>
            <a:ext cx="5532120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0" y="3794760"/>
            <a:ext cx="553212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93408" y="4050792"/>
            <a:ext cx="10972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93408" y="4389120"/>
            <a:ext cx="493776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每月跟得上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93408" y="4892040"/>
            <a:ext cx="493776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200"/>
              </a:lnSpc>
            </a:pPr>
            <a:r>
              <a:rPr sz="14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钢价、BOM、工艺、工程变更进入系统。</a:t>
            </a:r>
          </a:p>
          <a:p>
            <a:pPr algn="l">
              <a:lnSpc>
                <a:spcPts val="2200"/>
              </a:lnSpc>
            </a:pPr>
            <a:r>
              <a:rPr sz="14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当月依据，当月计算。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40080" y="6510528"/>
            <a:ext cx="10908792" cy="0"/>
          </a:xfrm>
          <a:prstGeom prst="line">
            <a:avLst/>
          </a:prstGeom>
          <a:ln w="7620">
            <a:solidFill>
              <a:srgbClr val="E6E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 spc="40">
                <a:solidFill>
                  <a:srgbClr val="8A8A8A"/>
                </a:solidFill>
                <a:latin typeface="微软雅黑"/>
                <a:ea typeface="微软雅黑"/>
                <a:latin typeface="微软雅黑"/>
              </a:rPr>
              <a:t>普炳软件  ·  核价平台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0" y="656539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 spc="40">
                <a:solidFill>
                  <a:srgbClr val="8A8A8A"/>
                </a:solidFill>
                <a:latin typeface="Arial"/>
                <a:ea typeface="微软雅黑"/>
                <a:latin typeface="Arial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20624"/>
            <a:ext cx="256032" cy="54864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347472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 spc="20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08  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spc="2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引擎把账算准，AI 把账讲明白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53312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这才是 AI 落地：不是让模型编价格，是让管理人员直接问公司的账。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28800"/>
            <a:ext cx="1090879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0292" cy="73152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956816"/>
            <a:ext cx="64008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200" b="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Q1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956816"/>
            <a:ext cx="94183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700" b="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这个月总成开给奇瑞的价，为什么涨了？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1090879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651760"/>
            <a:ext cx="50292" cy="73152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779776"/>
            <a:ext cx="64008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200" b="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Q2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779776"/>
            <a:ext cx="94183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700" b="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向二级商采购的对象，哪些涨幅最大？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474720"/>
            <a:ext cx="1090879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74720"/>
            <a:ext cx="50292" cy="73152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602736"/>
            <a:ext cx="64008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200" b="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Q3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602736"/>
            <a:ext cx="94183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700" b="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工程变更之后，开票价和采购价各动了多少？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297680"/>
            <a:ext cx="1090879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297680"/>
            <a:ext cx="50292" cy="73152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25696"/>
            <a:ext cx="64008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200" b="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Q4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25696"/>
            <a:ext cx="94183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700" b="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这个总成和上个月差在哪里？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120640"/>
            <a:ext cx="1090879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5120640"/>
            <a:ext cx="50292" cy="73152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248656"/>
            <a:ext cx="64008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200" b="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Q5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37360" y="5248656"/>
            <a:ext cx="94183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700" b="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把本月成本变化整理一下。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40080" y="6510528"/>
            <a:ext cx="10908792" cy="0"/>
          </a:xfrm>
          <a:prstGeom prst="line">
            <a:avLst/>
          </a:prstGeom>
          <a:ln w="7620">
            <a:solidFill>
              <a:srgbClr val="E6E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 spc="40">
                <a:solidFill>
                  <a:srgbClr val="8A8A8A"/>
                </a:solidFill>
                <a:latin typeface="微软雅黑"/>
                <a:ea typeface="微软雅黑"/>
                <a:latin typeface="微软雅黑"/>
              </a:rPr>
              <a:t>普炳软件  ·  核价平台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09760" y="656539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 spc="40">
                <a:solidFill>
                  <a:srgbClr val="8A8A8A"/>
                </a:solidFill>
                <a:latin typeface="Arial"/>
                <a:ea typeface="微软雅黑"/>
                <a:latin typeface="Arial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20624"/>
            <a:ext cx="256032" cy="54864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347472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 spc="20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09  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spc="2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从找表，到直接问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50292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8A8A8A"/>
                </a:solidFill>
                <a:latin typeface="微软雅黑"/>
                <a:ea typeface="微软雅黑"/>
                <a:latin typeface="微软雅黑"/>
              </a:rPr>
              <a:t>过去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417320"/>
            <a:ext cx="50292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D04A02"/>
                </a:solidFill>
                <a:latin typeface="微软雅黑"/>
                <a:ea typeface="微软雅黑"/>
                <a:latin typeface="微软雅黑"/>
              </a:rPr>
              <a:t>现在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5029200" cy="713232"/>
          </a:xfrm>
          <a:prstGeom prst="rect">
            <a:avLst/>
          </a:prstGeom>
          <a:solidFill>
            <a:srgbClr val="F3EEE6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11096"/>
            <a:ext cx="448056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01    人找 Excel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606040"/>
            <a:ext cx="5029200" cy="713232"/>
          </a:xfrm>
          <a:prstGeom prst="rect">
            <a:avLst/>
          </a:prstGeom>
          <a:solidFill>
            <a:srgbClr val="F3EEE6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734056"/>
            <a:ext cx="448056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02    找数据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429000"/>
            <a:ext cx="5029200" cy="713232"/>
          </a:xfrm>
          <a:prstGeom prst="rect">
            <a:avLst/>
          </a:prstGeom>
          <a:solidFill>
            <a:srgbClr val="F3EEE6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557016"/>
            <a:ext cx="448056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03    找公式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51960"/>
            <a:ext cx="5029200" cy="713232"/>
          </a:xfrm>
          <a:prstGeom prst="rect">
            <a:avLst/>
          </a:prstGeom>
          <a:solidFill>
            <a:srgbClr val="F3EEE6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79976"/>
            <a:ext cx="448056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04    做分析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074920"/>
            <a:ext cx="5029200" cy="713232"/>
          </a:xfrm>
          <a:prstGeom prst="rect">
            <a:avLst/>
          </a:prstGeom>
          <a:solidFill>
            <a:srgbClr val="F3EEE6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202936"/>
            <a:ext cx="448056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05    得出结论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1783080"/>
            <a:ext cx="502920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92240" y="1783080"/>
            <a:ext cx="502920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1984248"/>
            <a:ext cx="4480560" cy="49377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01    直接问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2807208"/>
            <a:ext cx="502920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92240" y="2807208"/>
            <a:ext cx="502920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12280" y="3008376"/>
            <a:ext cx="4480560" cy="49377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02    系统取数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92240" y="3831336"/>
            <a:ext cx="502920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92240" y="3831336"/>
            <a:ext cx="502920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4032504"/>
            <a:ext cx="4480560" cy="49377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03    核价引擎计算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92240" y="4855464"/>
            <a:ext cx="502920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92240" y="4855464"/>
            <a:ext cx="502920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80" y="5056632"/>
            <a:ext cx="4480560" cy="49377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04    AI 解释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40080" y="6510528"/>
            <a:ext cx="10908792" cy="0"/>
          </a:xfrm>
          <a:prstGeom prst="line">
            <a:avLst/>
          </a:prstGeom>
          <a:ln w="7620">
            <a:solidFill>
              <a:srgbClr val="E6E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 spc="40">
                <a:solidFill>
                  <a:srgbClr val="8A8A8A"/>
                </a:solidFill>
                <a:latin typeface="微软雅黑"/>
                <a:ea typeface="微软雅黑"/>
                <a:latin typeface="微软雅黑"/>
              </a:rPr>
              <a:t>普炳软件  ·  核价平台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09760" y="656539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 spc="40">
                <a:solidFill>
                  <a:srgbClr val="8A8A8A"/>
                </a:solidFill>
                <a:latin typeface="Arial"/>
                <a:ea typeface="微软雅黑"/>
                <a:latin typeface="Arial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20624"/>
            <a:ext cx="256032" cy="54864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347472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 spc="20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10   ONE LEDGER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spc="2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采购、财务、管理人员，看见同一本账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361188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55448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920240"/>
            <a:ext cx="30175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spc="8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468880"/>
            <a:ext cx="301752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同一套数据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4023360"/>
            <a:ext cx="301752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文件可溯，不是私人拷贝。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554480"/>
            <a:ext cx="361188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55448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27448" y="1920240"/>
            <a:ext cx="30175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spc="8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Rule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8" y="2468880"/>
            <a:ext cx="301752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同一套规则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8" y="4023360"/>
            <a:ext cx="301752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开给奇瑞、付给二级商，同一引擎。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1554480"/>
            <a:ext cx="361188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55448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22208" y="1920240"/>
            <a:ext cx="30175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spc="8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Result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22208" y="2468880"/>
            <a:ext cx="301752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同一套结果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22208" y="4023360"/>
            <a:ext cx="301752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当月依据，当月结果。对账不必扯皮。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0080" y="6510528"/>
            <a:ext cx="10908792" cy="0"/>
          </a:xfrm>
          <a:prstGeom prst="line">
            <a:avLst/>
          </a:prstGeom>
          <a:ln w="7620">
            <a:solidFill>
              <a:srgbClr val="E6E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 spc="40">
                <a:solidFill>
                  <a:srgbClr val="8A8A8A"/>
                </a:solidFill>
                <a:latin typeface="微软雅黑"/>
                <a:ea typeface="微软雅黑"/>
                <a:latin typeface="微软雅黑"/>
              </a:rPr>
              <a:t>普炳软件  ·  核价平台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0" y="656539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 spc="40">
                <a:solidFill>
                  <a:srgbClr val="8A8A8A"/>
                </a:solidFill>
                <a:latin typeface="Arial"/>
                <a:ea typeface="微软雅黑"/>
                <a:latin typeface="Arial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640080" y="1280160"/>
            <a:ext cx="1463040" cy="0"/>
          </a:xfrm>
          <a:prstGeom prst="line">
            <a:avLst/>
          </a:prstGeom>
          <a:ln w="28575">
            <a:solidFill>
              <a:srgbClr val="D04A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150876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spc="16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ONE 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10972800" cy="1691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4400"/>
              </a:lnSpc>
            </a:pPr>
            <a:r>
              <a:rPr sz="2800" b="1">
                <a:solidFill>
                  <a:srgbClr val="FFFFFF"/>
                </a:solidFill>
                <a:latin typeface="微软雅黑"/>
                <a:ea typeface="微软雅黑"/>
                <a:latin typeface="微软雅黑"/>
              </a:rPr>
              <a:t>先把核价做成公司能力。</a:t>
            </a:r>
          </a:p>
          <a:p>
            <a:pPr algn="l">
              <a:lnSpc>
                <a:spcPts val="4400"/>
              </a:lnSpc>
            </a:pPr>
            <a:r>
              <a:rPr sz="2800" b="1">
                <a:solidFill>
                  <a:srgbClr val="FFFFFF"/>
                </a:solidFill>
                <a:latin typeface="微软雅黑"/>
                <a:ea typeface="微软雅黑"/>
                <a:latin typeface="微软雅黑"/>
              </a:rPr>
              <a:t>数字化建设和 AI 落地，就有了抓手。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886200"/>
            <a:ext cx="109728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>
                <a:solidFill>
                  <a:srgbClr val="C8C8C8"/>
                </a:solidFill>
                <a:latin typeface="微软雅黑"/>
                <a:ea typeface="微软雅黑"/>
                <a:latin typeface="微软雅黑"/>
              </a:rPr>
              <a:t>少绑人、少扯皮。开给奇瑞多少、付给二级商多少，约 20 秒能算清。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26364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C8C8C8"/>
                </a:solidFill>
                <a:latin typeface="微软雅黑"/>
                <a:ea typeface="微软雅黑"/>
                <a:latin typeface="微软雅黑"/>
              </a:rPr>
              <a:t>普炳软件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263640"/>
            <a:ext cx="20116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0">
                <a:solidFill>
                  <a:srgbClr val="C8C8C8"/>
                </a:solidFill>
                <a:latin typeface="Arial"/>
                <a:ea typeface="微软雅黑"/>
                <a:latin typeface="Arial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