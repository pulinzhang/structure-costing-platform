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5486400" cy="3291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600" b="1" spc="40">
                <a:solidFill>
                  <a:srgbClr val="FFFFFF"/>
                </a:solidFill>
                <a:latin typeface="微软雅黑"/>
                <a:ea typeface="微软雅黑"/>
                <a:latin typeface="微软雅黑"/>
              </a:rPr>
              <a:t>普炳软件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170432"/>
            <a:ext cx="1463040" cy="0"/>
          </a:xfrm>
          <a:prstGeom prst="line">
            <a:avLst/>
          </a:prstGeom>
          <a:ln w="28575">
            <a:solidFill>
              <a:srgbClr val="D04A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353312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D04A02"/>
                </a:solidFill>
                <a:latin typeface="微软雅黑"/>
                <a:ea typeface="微软雅黑"/>
                <a:latin typeface="微软雅黑"/>
              </a:rPr>
              <a:t>客户买的是价值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1097280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4000" b="1">
                <a:solidFill>
                  <a:srgbClr val="FFFFFF"/>
                </a:solidFill>
                <a:latin typeface="微软雅黑"/>
                <a:ea typeface="微软雅黑"/>
                <a:latin typeface="微软雅黑"/>
              </a:rPr>
              <a:t>结构件自动核价平台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971800"/>
            <a:ext cx="10424160" cy="1463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ts val="3600"/>
              </a:lnSpc>
            </a:pPr>
            <a:r>
              <a:rPr sz="2200" b="0">
                <a:solidFill>
                  <a:srgbClr val="C8C8C8"/>
                </a:solidFill>
                <a:latin typeface="微软雅黑"/>
                <a:ea typeface="微软雅黑"/>
                <a:latin typeface="微软雅黑"/>
              </a:rPr>
              <a:t>比继续用 Excel 手工：</a:t>
            </a:r>
          </a:p>
          <a:p>
            <a:pPr algn="l">
              <a:lnSpc>
                <a:spcPts val="3600"/>
              </a:lnSpc>
            </a:pPr>
            <a:r>
              <a:rPr sz="2200" b="0">
                <a:solidFill>
                  <a:srgbClr val="C8C8C8"/>
                </a:solidFill>
                <a:latin typeface="微软雅黑"/>
                <a:ea typeface="微软雅黑"/>
                <a:latin typeface="微软雅黑"/>
              </a:rPr>
              <a:t>少耗人，两本价各算清，对账有据。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263640"/>
            <a:ext cx="73152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C8C8C8"/>
                </a:solidFill>
                <a:latin typeface="微软雅黑"/>
                <a:ea typeface="微软雅黑"/>
                <a:latin typeface="微软雅黑"/>
              </a:rPr>
              <a:t>普炳软件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0" y="6263640"/>
            <a:ext cx="201168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200" b="0">
                <a:solidFill>
                  <a:srgbClr val="C8C8C8"/>
                </a:solidFill>
                <a:latin typeface="Arial"/>
                <a:ea typeface="微软雅黑"/>
                <a:latin typeface="Arial"/>
              </a:rPr>
              <a:t>1 /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420624"/>
            <a:ext cx="256032" cy="54864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347472"/>
            <a:ext cx="91440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100" b="0" spc="200">
                <a:solidFill>
                  <a:srgbClr val="D04A02"/>
                </a:solidFill>
                <a:latin typeface="Arial"/>
                <a:ea typeface="微软雅黑"/>
                <a:latin typeface="Arial"/>
              </a:rPr>
              <a:t>01   VALUE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spc="20">
                <a:solidFill>
                  <a:srgbClr val="2D2D2D"/>
                </a:solidFill>
                <a:latin typeface="微软雅黑"/>
                <a:ea typeface="微软雅黑"/>
                <a:latin typeface="微软雅黑"/>
              </a:rPr>
              <a:t>价值，是比 Excel 多保住的结果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9728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>
                <a:solidFill>
                  <a:srgbClr val="6B6B6B"/>
                </a:solidFill>
                <a:latin typeface="微软雅黑"/>
                <a:ea typeface="微软雅黑"/>
                <a:latin typeface="微软雅黑"/>
              </a:rPr>
              <a:t>每月只认三样：少耗的人、两本价各算清、少打的架。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011680"/>
            <a:ext cx="3611880" cy="3977639"/>
          </a:xfrm>
          <a:prstGeom prst="rect">
            <a:avLst/>
          </a:prstGeom>
          <a:solidFill>
            <a:srgbClr val="FFFFFF"/>
          </a:solidFill>
          <a:ln w="9525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011680"/>
            <a:ext cx="3611880" cy="41148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2286000"/>
            <a:ext cx="310896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>
                <a:solidFill>
                  <a:srgbClr val="2D2D2D"/>
                </a:solidFill>
                <a:latin typeface="微软雅黑"/>
                <a:ea typeface="微软雅黑"/>
                <a:latin typeface="微软雅黑"/>
              </a:rPr>
              <a:t>人的时间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3108960"/>
            <a:ext cx="3108960" cy="2468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ts val="2600"/>
              </a:lnSpc>
            </a:pPr>
            <a:r>
              <a:rPr sz="1500" b="0">
                <a:solidFill>
                  <a:srgbClr val="6B6B6B"/>
                </a:solidFill>
                <a:latin typeface="微软雅黑"/>
                <a:ea typeface="微软雅黑"/>
                <a:latin typeface="微软雅黑"/>
              </a:rPr>
              <a:t>少占熟练人员好几天。</a:t>
            </a:r>
          </a:p>
          <a:p>
            <a:pPr algn="l">
              <a:lnSpc>
                <a:spcPts val="2600"/>
              </a:lnSpc>
            </a:pPr>
            <a:r>
              <a:rPr sz="1500" b="0">
                <a:solidFill>
                  <a:srgbClr val="6B6B6B"/>
                </a:solidFill>
                <a:latin typeface="微软雅黑"/>
                <a:ea typeface="微软雅黑"/>
                <a:latin typeface="微软雅黑"/>
              </a:rPr>
              <a:t>人请假，两本账照样出。</a:t>
            </a:r>
          </a:p>
          <a:p>
            <a:pPr algn="l">
              <a:lnSpc>
                <a:spcPts val="2600"/>
              </a:lnSpc>
            </a:pPr>
            <a:r>
              <a:rPr sz="1500" b="0">
                <a:solidFill>
                  <a:srgbClr val="6B6B6B"/>
                </a:solidFill>
                <a:latin typeface="微软雅黑"/>
                <a:ea typeface="微软雅黑"/>
                <a:latin typeface="微软雅黑"/>
              </a:rPr>
              <a:t>省下的是最缺的人。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2011680"/>
            <a:ext cx="3611880" cy="3977639"/>
          </a:xfrm>
          <a:prstGeom prst="rect">
            <a:avLst/>
          </a:prstGeom>
          <a:solidFill>
            <a:srgbClr val="FFFFFF"/>
          </a:solidFill>
          <a:ln w="9525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34840" y="2011680"/>
            <a:ext cx="3611880" cy="41148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90872" y="2286000"/>
            <a:ext cx="310896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>
                <a:solidFill>
                  <a:srgbClr val="2D2D2D"/>
                </a:solidFill>
                <a:latin typeface="微软雅黑"/>
                <a:ea typeface="微软雅黑"/>
                <a:latin typeface="微软雅黑"/>
              </a:rPr>
              <a:t>两本价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90872" y="3108960"/>
            <a:ext cx="3108960" cy="2468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ts val="2600"/>
              </a:lnSpc>
            </a:pPr>
            <a:r>
              <a:rPr sz="1500" b="0">
                <a:solidFill>
                  <a:srgbClr val="6B6B6B"/>
                </a:solidFill>
                <a:latin typeface="微软雅黑"/>
                <a:ea typeface="微软雅黑"/>
                <a:latin typeface="微软雅黑"/>
              </a:rPr>
              <a:t>开给奇瑞的是焊完的总成。</a:t>
            </a:r>
          </a:p>
          <a:p>
            <a:pPr algn="l">
              <a:lnSpc>
                <a:spcPts val="2600"/>
              </a:lnSpc>
            </a:pPr>
            <a:r>
              <a:rPr sz="1500" b="0">
                <a:solidFill>
                  <a:srgbClr val="6B6B6B"/>
                </a:solidFill>
                <a:latin typeface="微软雅黑"/>
                <a:ea typeface="微软雅黑"/>
                <a:latin typeface="微软雅黑"/>
              </a:rPr>
              <a:t>付给二级商的是分总成。</a:t>
            </a:r>
          </a:p>
          <a:p>
            <a:pPr algn="l">
              <a:lnSpc>
                <a:spcPts val="2600"/>
              </a:lnSpc>
            </a:pPr>
            <a:r>
              <a:rPr sz="1500" b="0">
                <a:solidFill>
                  <a:srgbClr val="6B6B6B"/>
                </a:solidFill>
                <a:latin typeface="微软雅黑"/>
                <a:ea typeface="微软雅黑"/>
                <a:latin typeface="微软雅黑"/>
              </a:rPr>
              <a:t>中间是公司自己的焊接。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0" y="2011680"/>
            <a:ext cx="3611880" cy="3977639"/>
          </a:xfrm>
          <a:prstGeom prst="rect">
            <a:avLst/>
          </a:prstGeom>
          <a:solidFill>
            <a:srgbClr val="FFFFFF"/>
          </a:solidFill>
          <a:ln w="9525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29600" y="2011680"/>
            <a:ext cx="3611880" cy="41148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85632" y="2286000"/>
            <a:ext cx="310896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>
                <a:solidFill>
                  <a:srgbClr val="2D2D2D"/>
                </a:solidFill>
                <a:latin typeface="微软雅黑"/>
                <a:ea typeface="微软雅黑"/>
                <a:latin typeface="微软雅黑"/>
              </a:rPr>
              <a:t>对账的工夫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85632" y="3108960"/>
            <a:ext cx="3108960" cy="2468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ts val="2600"/>
              </a:lnSpc>
            </a:pPr>
            <a:r>
              <a:rPr sz="1500" b="0">
                <a:solidFill>
                  <a:srgbClr val="6B6B6B"/>
                </a:solidFill>
                <a:latin typeface="微软雅黑"/>
                <a:ea typeface="微软雅黑"/>
                <a:latin typeface="微软雅黑"/>
              </a:rPr>
              <a:t>文件、人和版本留在平台。</a:t>
            </a:r>
          </a:p>
          <a:p>
            <a:pPr algn="l">
              <a:lnSpc>
                <a:spcPts val="2600"/>
              </a:lnSpc>
            </a:pPr>
            <a:r>
              <a:rPr sz="1500" b="0">
                <a:solidFill>
                  <a:srgbClr val="6B6B6B"/>
                </a:solidFill>
                <a:latin typeface="微软雅黑"/>
                <a:ea typeface="微软雅黑"/>
                <a:latin typeface="微软雅黑"/>
              </a:rPr>
              <a:t>对奇瑞、二级商和财务，</a:t>
            </a:r>
          </a:p>
          <a:p>
            <a:pPr algn="l">
              <a:lnSpc>
                <a:spcPts val="2600"/>
              </a:lnSpc>
            </a:pPr>
            <a:r>
              <a:rPr sz="1500" b="0">
                <a:solidFill>
                  <a:srgbClr val="6B6B6B"/>
                </a:solidFill>
                <a:latin typeface="微软雅黑"/>
                <a:ea typeface="微软雅黑"/>
                <a:latin typeface="微软雅黑"/>
              </a:rPr>
              <a:t>不必再开会统一口径。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40080" y="6510528"/>
            <a:ext cx="10908792" cy="0"/>
          </a:xfrm>
          <a:prstGeom prst="line">
            <a:avLst/>
          </a:prstGeom>
          <a:ln w="7620">
            <a:solidFill>
              <a:srgbClr val="E6E0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40080" y="6565392"/>
            <a:ext cx="54864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000" b="0" spc="40">
                <a:solidFill>
                  <a:srgbClr val="8A8A8A"/>
                </a:solidFill>
                <a:latin typeface="微软雅黑"/>
                <a:ea typeface="微软雅黑"/>
                <a:latin typeface="微软雅黑"/>
              </a:rPr>
              <a:t>普炳软件  ·  核价平台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09760" y="6565392"/>
            <a:ext cx="201168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000" b="0" spc="40">
                <a:solidFill>
                  <a:srgbClr val="8A8A8A"/>
                </a:solidFill>
                <a:latin typeface="Arial"/>
                <a:ea typeface="微软雅黑"/>
                <a:latin typeface="Arial"/>
              </a:rPr>
              <a:t>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420624"/>
            <a:ext cx="256032" cy="54864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347472"/>
            <a:ext cx="91440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100" b="0" spc="200">
                <a:solidFill>
                  <a:srgbClr val="D04A02"/>
                </a:solidFill>
                <a:latin typeface="Arial"/>
                <a:ea typeface="微软雅黑"/>
                <a:latin typeface="Arial"/>
              </a:rPr>
              <a:t>02   VERSUS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spc="20">
                <a:solidFill>
                  <a:srgbClr val="2D2D2D"/>
                </a:solidFill>
                <a:latin typeface="微软雅黑"/>
                <a:ea typeface="微软雅黑"/>
                <a:latin typeface="微软雅黑"/>
              </a:rPr>
              <a:t>同样核价，Excel 和现网差在哪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7360" y="1353312"/>
            <a:ext cx="301752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spc="60">
                <a:solidFill>
                  <a:srgbClr val="D04A02"/>
                </a:solidFill>
                <a:latin typeface="微软雅黑"/>
                <a:ea typeface="微软雅黑"/>
                <a:latin typeface="微软雅黑"/>
              </a:rPr>
              <a:t>Excel 手工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92040" y="1353312"/>
            <a:ext cx="301752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spc="60">
                <a:solidFill>
                  <a:srgbClr val="D04A02"/>
                </a:solidFill>
                <a:latin typeface="微软雅黑"/>
                <a:ea typeface="微软雅黑"/>
                <a:latin typeface="微软雅黑"/>
              </a:rPr>
              <a:t>现网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1353312"/>
            <a:ext cx="301752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spc="60">
                <a:solidFill>
                  <a:srgbClr val="D04A02"/>
                </a:solidFill>
                <a:latin typeface="微软雅黑"/>
                <a:ea typeface="微软雅黑"/>
                <a:latin typeface="微软雅黑"/>
              </a:rPr>
              <a:t>公司得到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1700784"/>
            <a:ext cx="10908792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1700784"/>
            <a:ext cx="50292" cy="1024128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1956816"/>
            <a:ext cx="77724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000" b="1">
                <a:solidFill>
                  <a:srgbClr val="2D2D2D"/>
                </a:solidFill>
                <a:latin typeface="微软雅黑"/>
                <a:ea typeface="微软雅黑"/>
                <a:latin typeface="微软雅黑"/>
              </a:rPr>
              <a:t>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37360" y="1847088"/>
            <a:ext cx="2971800" cy="7498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ts val="2200"/>
              </a:lnSpc>
            </a:pPr>
            <a:r>
              <a:rPr sz="1400" b="0">
                <a:solidFill>
                  <a:srgbClr val="6B6B6B"/>
                </a:solidFill>
                <a:latin typeface="微软雅黑"/>
                <a:ea typeface="微软雅黑"/>
                <a:latin typeface="微软雅黑"/>
              </a:rPr>
              <a:t>熟练人员做好几天。</a:t>
            </a:r>
          </a:p>
          <a:p>
            <a:pPr algn="l">
              <a:lnSpc>
                <a:spcPts val="2200"/>
              </a:lnSpc>
            </a:pPr>
            <a:r>
              <a:rPr sz="1400" b="0">
                <a:solidFill>
                  <a:srgbClr val="6B6B6B"/>
                </a:solidFill>
                <a:latin typeface="微软雅黑"/>
                <a:ea typeface="微软雅黑"/>
                <a:latin typeface="微软雅黑"/>
              </a:rPr>
              <a:t>人走，账就停。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92040" y="1847088"/>
            <a:ext cx="2971800" cy="7498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ts val="2200"/>
              </a:lnSpc>
            </a:pPr>
            <a:r>
              <a:rPr sz="1400" b="0">
                <a:solidFill>
                  <a:srgbClr val="2D2D2D"/>
                </a:solidFill>
                <a:latin typeface="微软雅黑"/>
                <a:ea typeface="微软雅黑"/>
                <a:latin typeface="微软雅黑"/>
              </a:rPr>
              <a:t>上传之后，引擎约 20 秒。</a:t>
            </a:r>
          </a:p>
          <a:p>
            <a:pPr algn="l">
              <a:lnSpc>
                <a:spcPts val="2200"/>
              </a:lnSpc>
            </a:pPr>
            <a:r>
              <a:rPr sz="1400" b="0">
                <a:solidFill>
                  <a:srgbClr val="2D2D2D"/>
                </a:solidFill>
                <a:latin typeface="微软雅黑"/>
                <a:ea typeface="微软雅黑"/>
                <a:latin typeface="微软雅黑"/>
              </a:rPr>
              <a:t>规则留在平台。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1847088"/>
            <a:ext cx="3246120" cy="7498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ts val="2200"/>
              </a:lnSpc>
            </a:pPr>
            <a:r>
              <a:rPr sz="1400" b="1">
                <a:solidFill>
                  <a:srgbClr val="2D2D2D"/>
                </a:solidFill>
                <a:latin typeface="微软雅黑"/>
                <a:ea typeface="微软雅黑"/>
                <a:latin typeface="微软雅黑"/>
              </a:rPr>
              <a:t>人转去谈价和异常。</a:t>
            </a:r>
          </a:p>
          <a:p>
            <a:pPr algn="l">
              <a:lnSpc>
                <a:spcPts val="2200"/>
              </a:lnSpc>
            </a:pPr>
            <a:r>
              <a:rPr sz="1400" b="1">
                <a:solidFill>
                  <a:srgbClr val="2D2D2D"/>
                </a:solidFill>
                <a:latin typeface="微软雅黑"/>
                <a:ea typeface="微软雅黑"/>
                <a:latin typeface="微软雅黑"/>
              </a:rPr>
              <a:t>请假也不停账。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2816352"/>
            <a:ext cx="10908792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2816352"/>
            <a:ext cx="50292" cy="1024128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072384"/>
            <a:ext cx="77724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000" b="1">
                <a:solidFill>
                  <a:srgbClr val="2D2D2D"/>
                </a:solidFill>
                <a:latin typeface="微软雅黑"/>
                <a:ea typeface="微软雅黑"/>
                <a:latin typeface="微软雅黑"/>
              </a:rPr>
              <a:t>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2962656"/>
            <a:ext cx="2971800" cy="7498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ts val="2200"/>
              </a:lnSpc>
            </a:pPr>
            <a:r>
              <a:rPr sz="1400" b="0">
                <a:solidFill>
                  <a:srgbClr val="6B6B6B"/>
                </a:solidFill>
                <a:latin typeface="微软雅黑"/>
                <a:ea typeface="微软雅黑"/>
                <a:latin typeface="微软雅黑"/>
              </a:rPr>
              <a:t>总成、分总成各一张表。</a:t>
            </a:r>
          </a:p>
          <a:p>
            <a:pPr algn="l">
              <a:lnSpc>
                <a:spcPts val="2200"/>
              </a:lnSpc>
            </a:pPr>
            <a:r>
              <a:rPr sz="1400" b="0">
                <a:solidFill>
                  <a:srgbClr val="6B6B6B"/>
                </a:solidFill>
                <a:latin typeface="微软雅黑"/>
                <a:ea typeface="微软雅黑"/>
                <a:latin typeface="微软雅黑"/>
              </a:rPr>
              <a:t>两本对不到一起。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92040" y="2962656"/>
            <a:ext cx="2971800" cy="7498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ts val="2200"/>
              </a:lnSpc>
            </a:pPr>
            <a:r>
              <a:rPr sz="1400" b="0">
                <a:solidFill>
                  <a:srgbClr val="2D2D2D"/>
                </a:solidFill>
                <a:latin typeface="微软雅黑"/>
                <a:ea typeface="微软雅黑"/>
                <a:latin typeface="微软雅黑"/>
              </a:rPr>
              <a:t>总成价、分总成价</a:t>
            </a:r>
          </a:p>
          <a:p>
            <a:pPr algn="l">
              <a:lnSpc>
                <a:spcPts val="2200"/>
              </a:lnSpc>
            </a:pPr>
            <a:r>
              <a:rPr sz="1400" b="0">
                <a:solidFill>
                  <a:srgbClr val="2D2D2D"/>
                </a:solidFill>
                <a:latin typeface="微软雅黑"/>
                <a:ea typeface="微软雅黑"/>
                <a:latin typeface="微软雅黑"/>
              </a:rPr>
              <a:t>同一引擎，各算各的。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962656"/>
            <a:ext cx="3246120" cy="7498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ts val="2200"/>
              </a:lnSpc>
            </a:pPr>
            <a:r>
              <a:rPr sz="1400" b="1">
                <a:solidFill>
                  <a:srgbClr val="2D2D2D"/>
                </a:solidFill>
                <a:latin typeface="微软雅黑"/>
                <a:ea typeface="微软雅黑"/>
                <a:latin typeface="微软雅黑"/>
              </a:rPr>
              <a:t>焊费只计一次。</a:t>
            </a:r>
          </a:p>
          <a:p>
            <a:pPr algn="l">
              <a:lnSpc>
                <a:spcPts val="2200"/>
              </a:lnSpc>
            </a:pPr>
            <a:r>
              <a:rPr sz="1400" b="1">
                <a:solidFill>
                  <a:srgbClr val="2D2D2D"/>
                </a:solidFill>
                <a:latin typeface="微软雅黑"/>
                <a:ea typeface="微软雅黑"/>
                <a:latin typeface="微软雅黑"/>
              </a:rPr>
              <a:t>协议按分总成签。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3931920"/>
            <a:ext cx="10908792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3931920"/>
            <a:ext cx="50292" cy="1024128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4187952"/>
            <a:ext cx="77724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000" b="1">
                <a:solidFill>
                  <a:srgbClr val="2D2D2D"/>
                </a:solidFill>
                <a:latin typeface="微软雅黑"/>
                <a:ea typeface="微软雅黑"/>
                <a:latin typeface="微软雅黑"/>
              </a:rPr>
              <a:t>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37360" y="4078224"/>
            <a:ext cx="2971800" cy="7498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ts val="2200"/>
              </a:lnSpc>
            </a:pPr>
            <a:r>
              <a:rPr sz="1400" b="0">
                <a:solidFill>
                  <a:srgbClr val="6B6B6B"/>
                </a:solidFill>
                <a:latin typeface="微软雅黑"/>
                <a:ea typeface="微软雅黑"/>
                <a:latin typeface="微软雅黑"/>
              </a:rPr>
              <a:t>钢价、BOM、工艺、设变</a:t>
            </a:r>
          </a:p>
          <a:p>
            <a:pPr algn="l">
              <a:lnSpc>
                <a:spcPts val="2200"/>
              </a:lnSpc>
            </a:pPr>
            <a:r>
              <a:rPr sz="1400" b="0">
                <a:solidFill>
                  <a:srgbClr val="6B6B6B"/>
                </a:solidFill>
                <a:latin typeface="微软雅黑"/>
                <a:ea typeface="微软雅黑"/>
                <a:latin typeface="微软雅黑"/>
              </a:rPr>
              <a:t>散在文件夹。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92040" y="4078224"/>
            <a:ext cx="2971800" cy="7498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ts val="2200"/>
              </a:lnSpc>
            </a:pPr>
            <a:r>
              <a:rPr sz="1400" b="0">
                <a:solidFill>
                  <a:srgbClr val="2D2D2D"/>
                </a:solidFill>
                <a:latin typeface="微软雅黑"/>
                <a:ea typeface="微软雅黑"/>
                <a:latin typeface="微软雅黑"/>
              </a:rPr>
              <a:t>当月依据，</a:t>
            </a:r>
          </a:p>
          <a:p>
            <a:pPr algn="l">
              <a:lnSpc>
                <a:spcPts val="2200"/>
              </a:lnSpc>
            </a:pPr>
            <a:r>
              <a:rPr sz="1400" b="0">
                <a:solidFill>
                  <a:srgbClr val="2D2D2D"/>
                </a:solidFill>
                <a:latin typeface="微软雅黑"/>
                <a:ea typeface="微软雅黑"/>
                <a:latin typeface="微软雅黑"/>
              </a:rPr>
              <a:t>当月一起计算。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0" y="4078224"/>
            <a:ext cx="3246120" cy="7498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ts val="2200"/>
              </a:lnSpc>
            </a:pPr>
            <a:r>
              <a:rPr sz="1400" b="1">
                <a:solidFill>
                  <a:srgbClr val="2D2D2D"/>
                </a:solidFill>
                <a:latin typeface="微软雅黑"/>
                <a:ea typeface="微软雅黑"/>
                <a:latin typeface="微软雅黑"/>
              </a:rPr>
              <a:t>该调的开票价和采购价，</a:t>
            </a:r>
          </a:p>
          <a:p>
            <a:pPr algn="l">
              <a:lnSpc>
                <a:spcPts val="2200"/>
              </a:lnSpc>
            </a:pPr>
            <a:r>
              <a:rPr sz="1400" b="1">
                <a:solidFill>
                  <a:srgbClr val="2D2D2D"/>
                </a:solidFill>
                <a:latin typeface="微软雅黑"/>
                <a:ea typeface="微软雅黑"/>
                <a:latin typeface="微软雅黑"/>
              </a:rPr>
              <a:t>当月跟上。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" y="5047488"/>
            <a:ext cx="10908792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40080" y="5047488"/>
            <a:ext cx="50292" cy="1024128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" y="5303520"/>
            <a:ext cx="77724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000" b="1">
                <a:solidFill>
                  <a:srgbClr val="2D2D2D"/>
                </a:solidFill>
                <a:latin typeface="微软雅黑"/>
                <a:ea typeface="微软雅黑"/>
                <a:latin typeface="微软雅黑"/>
              </a:rPr>
              <a:t>对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37360" y="5193792"/>
            <a:ext cx="2971800" cy="7498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ts val="2200"/>
              </a:lnSpc>
            </a:pPr>
            <a:r>
              <a:rPr sz="1400" b="0">
                <a:solidFill>
                  <a:srgbClr val="6B6B6B"/>
                </a:solidFill>
                <a:latin typeface="微软雅黑"/>
                <a:ea typeface="微软雅黑"/>
                <a:latin typeface="微软雅黑"/>
              </a:rPr>
              <a:t>私人拷贝。</a:t>
            </a:r>
          </a:p>
          <a:p>
            <a:pPr algn="l">
              <a:lnSpc>
                <a:spcPts val="2200"/>
              </a:lnSpc>
            </a:pPr>
            <a:r>
              <a:rPr sz="1400" b="0">
                <a:solidFill>
                  <a:srgbClr val="6B6B6B"/>
                </a:solidFill>
                <a:latin typeface="微软雅黑"/>
                <a:ea typeface="微软雅黑"/>
                <a:latin typeface="微软雅黑"/>
              </a:rPr>
              <a:t>口径靠骨干记忆。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92040" y="5193792"/>
            <a:ext cx="2971800" cy="7498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ts val="2200"/>
              </a:lnSpc>
            </a:pPr>
            <a:r>
              <a:rPr sz="1400" b="0">
                <a:solidFill>
                  <a:srgbClr val="2D2D2D"/>
                </a:solidFill>
                <a:latin typeface="微软雅黑"/>
                <a:ea typeface="微软雅黑"/>
                <a:latin typeface="微软雅黑"/>
              </a:rPr>
              <a:t>文件、操作、当期版本</a:t>
            </a:r>
          </a:p>
          <a:p>
            <a:pPr algn="l">
              <a:lnSpc>
                <a:spcPts val="2200"/>
              </a:lnSpc>
            </a:pPr>
            <a:r>
              <a:rPr sz="1400" b="0">
                <a:solidFill>
                  <a:srgbClr val="2D2D2D"/>
                </a:solidFill>
                <a:latin typeface="微软雅黑"/>
                <a:ea typeface="微软雅黑"/>
                <a:latin typeface="微软雅黑"/>
              </a:rPr>
              <a:t>都留着。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46720" y="5193792"/>
            <a:ext cx="3246120" cy="7498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ts val="2200"/>
              </a:lnSpc>
            </a:pPr>
            <a:r>
              <a:rPr sz="1400" b="1">
                <a:solidFill>
                  <a:srgbClr val="2D2D2D"/>
                </a:solidFill>
                <a:latin typeface="微软雅黑"/>
                <a:ea typeface="微软雅黑"/>
                <a:latin typeface="微软雅黑"/>
              </a:rPr>
              <a:t>对奇瑞、二级商、财务，</a:t>
            </a:r>
          </a:p>
          <a:p>
            <a:pPr algn="l">
              <a:lnSpc>
                <a:spcPts val="2200"/>
              </a:lnSpc>
            </a:pPr>
            <a:r>
              <a:rPr sz="1400" b="1">
                <a:solidFill>
                  <a:srgbClr val="2D2D2D"/>
                </a:solidFill>
                <a:latin typeface="微软雅黑"/>
                <a:ea typeface="微软雅黑"/>
                <a:latin typeface="微软雅黑"/>
              </a:rPr>
              <a:t>拿记录对。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40080" y="6510528"/>
            <a:ext cx="10908792" cy="0"/>
          </a:xfrm>
          <a:prstGeom prst="line">
            <a:avLst/>
          </a:prstGeom>
          <a:ln w="7620">
            <a:solidFill>
              <a:srgbClr val="E6E0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640080" y="6565392"/>
            <a:ext cx="54864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000" b="0" spc="40">
                <a:solidFill>
                  <a:srgbClr val="8A8A8A"/>
                </a:solidFill>
                <a:latin typeface="微软雅黑"/>
                <a:ea typeface="微软雅黑"/>
                <a:latin typeface="微软雅黑"/>
              </a:rPr>
              <a:t>普炳软件  ·  核价平台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09760" y="6565392"/>
            <a:ext cx="201168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000" b="0" spc="40">
                <a:solidFill>
                  <a:srgbClr val="8A8A8A"/>
                </a:solidFill>
                <a:latin typeface="Arial"/>
                <a:ea typeface="微软雅黑"/>
                <a:latin typeface="Arial"/>
              </a:rPr>
              <a:t>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420624"/>
            <a:ext cx="256032" cy="54864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347472"/>
            <a:ext cx="91440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100" b="0" spc="200">
                <a:solidFill>
                  <a:srgbClr val="D04A02"/>
                </a:solidFill>
                <a:latin typeface="Arial"/>
                <a:ea typeface="微软雅黑"/>
                <a:latin typeface="Arial"/>
              </a:rPr>
              <a:t>03   WHERE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spc="20">
                <a:solidFill>
                  <a:srgbClr val="2D2D2D"/>
                </a:solidFill>
                <a:latin typeface="微软雅黑"/>
                <a:ea typeface="微软雅黑"/>
                <a:latin typeface="微软雅黑"/>
              </a:rPr>
              <a:t>这四项结果，从同一套规则里来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97280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>
                <a:solidFill>
                  <a:srgbClr val="6B6B6B"/>
                </a:solidFill>
                <a:latin typeface="微软雅黑"/>
                <a:ea typeface="微软雅黑"/>
                <a:latin typeface="微软雅黑"/>
              </a:rPr>
              <a:t>依据仍由人上传。耗掉好几天的，是其后的计算、对表和解释。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011680"/>
            <a:ext cx="2743200" cy="3977639"/>
          </a:xfrm>
          <a:prstGeom prst="rect">
            <a:avLst/>
          </a:prstGeom>
          <a:solidFill>
            <a:srgbClr val="FFFFFF"/>
          </a:solidFill>
          <a:ln w="9525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011680"/>
            <a:ext cx="2743200" cy="41148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2267712"/>
            <a:ext cx="22860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spc="80">
                <a:solidFill>
                  <a:srgbClr val="D04A02"/>
                </a:solidFill>
                <a:latin typeface="Arial"/>
                <a:ea typeface="微软雅黑"/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" y="2743200"/>
            <a:ext cx="228600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>
                <a:solidFill>
                  <a:srgbClr val="2D2D2D"/>
                </a:solidFill>
                <a:latin typeface="微软雅黑"/>
                <a:ea typeface="微软雅黑"/>
                <a:latin typeface="微软雅黑"/>
              </a:rPr>
              <a:t>依据进入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3749039"/>
            <a:ext cx="2286000" cy="1828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ts val="2600"/>
              </a:lnSpc>
            </a:pPr>
            <a:r>
              <a:rPr sz="1500" b="0">
                <a:solidFill>
                  <a:srgbClr val="6B6B6B"/>
                </a:solidFill>
                <a:latin typeface="微软雅黑"/>
                <a:ea typeface="微软雅黑"/>
                <a:latin typeface="微软雅黑"/>
              </a:rPr>
              <a:t>钢价政策、BOM、</a:t>
            </a:r>
          </a:p>
          <a:p>
            <a:pPr algn="l">
              <a:lnSpc>
                <a:spcPts val="2600"/>
              </a:lnSpc>
            </a:pPr>
            <a:r>
              <a:rPr sz="1500" b="0">
                <a:solidFill>
                  <a:srgbClr val="6B6B6B"/>
                </a:solidFill>
                <a:latin typeface="微软雅黑"/>
                <a:ea typeface="微软雅黑"/>
                <a:latin typeface="微软雅黑"/>
              </a:rPr>
              <a:t>工艺和工程变更，</a:t>
            </a:r>
          </a:p>
          <a:p>
            <a:pPr algn="l">
              <a:lnSpc>
                <a:spcPts val="2600"/>
              </a:lnSpc>
            </a:pPr>
            <a:r>
              <a:rPr sz="1500" b="0">
                <a:solidFill>
                  <a:srgbClr val="6B6B6B"/>
                </a:solidFill>
                <a:latin typeface="微软雅黑"/>
                <a:ea typeface="微软雅黑"/>
                <a:latin typeface="微软雅黑"/>
              </a:rPr>
              <a:t>按月纳入。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20439" y="2011680"/>
            <a:ext cx="2743200" cy="3977639"/>
          </a:xfrm>
          <a:prstGeom prst="rect">
            <a:avLst/>
          </a:prstGeom>
          <a:solidFill>
            <a:srgbClr val="FFFFFF"/>
          </a:solidFill>
          <a:ln w="9525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20439" y="2011680"/>
            <a:ext cx="2743200" cy="41148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39895" y="2267712"/>
            <a:ext cx="22860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spc="80">
                <a:solidFill>
                  <a:srgbClr val="D04A02"/>
                </a:solidFill>
                <a:latin typeface="Arial"/>
                <a:ea typeface="微软雅黑"/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9895" y="2743200"/>
            <a:ext cx="228600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>
                <a:solidFill>
                  <a:srgbClr val="2D2D2D"/>
                </a:solidFill>
                <a:latin typeface="微软雅黑"/>
                <a:ea typeface="微软雅黑"/>
                <a:latin typeface="微软雅黑"/>
              </a:rPr>
              <a:t>引擎计算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39895" y="3749039"/>
            <a:ext cx="2286000" cy="1828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ts val="2600"/>
              </a:lnSpc>
            </a:pPr>
            <a:r>
              <a:rPr sz="1500" b="0">
                <a:solidFill>
                  <a:srgbClr val="6B6B6B"/>
                </a:solidFill>
                <a:latin typeface="微软雅黑"/>
                <a:ea typeface="微软雅黑"/>
                <a:latin typeface="微软雅黑"/>
              </a:rPr>
              <a:t>总成价与采购价，</a:t>
            </a:r>
          </a:p>
          <a:p>
            <a:pPr algn="l">
              <a:lnSpc>
                <a:spcPts val="2600"/>
              </a:lnSpc>
            </a:pPr>
            <a:r>
              <a:rPr sz="1500" b="0">
                <a:solidFill>
                  <a:srgbClr val="6B6B6B"/>
                </a:solidFill>
                <a:latin typeface="微软雅黑"/>
                <a:ea typeface="微软雅黑"/>
                <a:latin typeface="微软雅黑"/>
              </a:rPr>
              <a:t>同一套规则。</a:t>
            </a:r>
          </a:p>
          <a:p>
            <a:pPr algn="l">
              <a:lnSpc>
                <a:spcPts val="2600"/>
              </a:lnSpc>
            </a:pPr>
            <a:r>
              <a:rPr sz="1500" b="0">
                <a:solidFill>
                  <a:srgbClr val="6B6B6B"/>
                </a:solidFill>
                <a:latin typeface="微软雅黑"/>
                <a:ea typeface="微软雅黑"/>
                <a:latin typeface="微软雅黑"/>
              </a:rPr>
              <a:t>约 20 秒。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0" y="2011680"/>
            <a:ext cx="2743200" cy="3977639"/>
          </a:xfrm>
          <a:prstGeom prst="rect">
            <a:avLst/>
          </a:prstGeom>
          <a:solidFill>
            <a:srgbClr val="FFFFFF"/>
          </a:solidFill>
          <a:ln w="9525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0" y="2011680"/>
            <a:ext cx="2743200" cy="41148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20256" y="2267712"/>
            <a:ext cx="22860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spc="80">
                <a:solidFill>
                  <a:srgbClr val="D04A02"/>
                </a:solidFill>
                <a:latin typeface="Arial"/>
                <a:ea typeface="微软雅黑"/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20256" y="2743200"/>
            <a:ext cx="228600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>
                <a:solidFill>
                  <a:srgbClr val="2D2D2D"/>
                </a:solidFill>
                <a:latin typeface="微软雅黑"/>
                <a:ea typeface="微软雅黑"/>
                <a:latin typeface="微软雅黑"/>
              </a:rPr>
              <a:t>协议落地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20256" y="3749039"/>
            <a:ext cx="2286000" cy="1828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ts val="2600"/>
              </a:lnSpc>
            </a:pPr>
            <a:r>
              <a:rPr sz="1500" b="0">
                <a:solidFill>
                  <a:srgbClr val="6B6B6B"/>
                </a:solidFill>
                <a:latin typeface="微软雅黑"/>
                <a:ea typeface="微软雅黑"/>
                <a:latin typeface="微软雅黑"/>
              </a:rPr>
              <a:t>采购协议按结果出。</a:t>
            </a:r>
          </a:p>
          <a:p>
            <a:pPr algn="l">
              <a:lnSpc>
                <a:spcPts val="2600"/>
              </a:lnSpc>
            </a:pPr>
            <a:r>
              <a:rPr sz="1500" b="0">
                <a:solidFill>
                  <a:srgbClr val="6B6B6B"/>
                </a:solidFill>
                <a:latin typeface="微软雅黑"/>
                <a:ea typeface="微软雅黑"/>
                <a:latin typeface="微软雅黑"/>
              </a:rPr>
              <a:t>不必再抄一版表。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281159" y="2011680"/>
            <a:ext cx="2743200" cy="3977639"/>
          </a:xfrm>
          <a:prstGeom prst="rect">
            <a:avLst/>
          </a:prstGeom>
          <a:solidFill>
            <a:srgbClr val="FFFFFF"/>
          </a:solidFill>
          <a:ln w="9525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281159" y="2011680"/>
            <a:ext cx="2743200" cy="41148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500615" y="2267712"/>
            <a:ext cx="22860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spc="80">
                <a:solidFill>
                  <a:srgbClr val="D04A02"/>
                </a:solidFill>
                <a:latin typeface="Arial"/>
                <a:ea typeface="微软雅黑"/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500615" y="2743200"/>
            <a:ext cx="228600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>
                <a:solidFill>
                  <a:srgbClr val="2D2D2D"/>
                </a:solidFill>
                <a:latin typeface="微软雅黑"/>
                <a:ea typeface="微软雅黑"/>
                <a:latin typeface="微软雅黑"/>
              </a:rPr>
              <a:t>只解释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00615" y="3749039"/>
            <a:ext cx="2286000" cy="1828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ts val="2600"/>
              </a:lnSpc>
            </a:pPr>
            <a:r>
              <a:rPr sz="1500" b="0">
                <a:solidFill>
                  <a:srgbClr val="6B6B6B"/>
                </a:solidFill>
                <a:latin typeface="微软雅黑"/>
                <a:ea typeface="微软雅黑"/>
                <a:latin typeface="微软雅黑"/>
              </a:rPr>
              <a:t>AI 讲涨跌原因。</a:t>
            </a:r>
          </a:p>
          <a:p>
            <a:pPr algn="l">
              <a:lnSpc>
                <a:spcPts val="2600"/>
              </a:lnSpc>
            </a:pPr>
            <a:r>
              <a:rPr sz="1500" b="0">
                <a:solidFill>
                  <a:srgbClr val="6B6B6B"/>
                </a:solidFill>
                <a:latin typeface="微软雅黑"/>
                <a:ea typeface="微软雅黑"/>
                <a:latin typeface="微软雅黑"/>
              </a:rPr>
              <a:t>价格只认引擎。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40080" y="6510528"/>
            <a:ext cx="10908792" cy="0"/>
          </a:xfrm>
          <a:prstGeom prst="line">
            <a:avLst/>
          </a:prstGeom>
          <a:ln w="7620">
            <a:solidFill>
              <a:srgbClr val="E6E0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40080" y="6565392"/>
            <a:ext cx="54864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000" b="0" spc="40">
                <a:solidFill>
                  <a:srgbClr val="8A8A8A"/>
                </a:solidFill>
                <a:latin typeface="微软雅黑"/>
                <a:ea typeface="微软雅黑"/>
                <a:latin typeface="微软雅黑"/>
              </a:rPr>
              <a:t>普炳软件  ·  核价平台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509760" y="6565392"/>
            <a:ext cx="201168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000" b="0" spc="40">
                <a:solidFill>
                  <a:srgbClr val="8A8A8A"/>
                </a:solidFill>
                <a:latin typeface="Arial"/>
                <a:ea typeface="微软雅黑"/>
                <a:latin typeface="Arial"/>
              </a:rPr>
              <a:t>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420624"/>
            <a:ext cx="256032" cy="54864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347472"/>
            <a:ext cx="91440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100" b="0" spc="200">
                <a:solidFill>
                  <a:srgbClr val="D04A02"/>
                </a:solidFill>
                <a:latin typeface="Arial"/>
                <a:ea typeface="微软雅黑"/>
                <a:latin typeface="Arial"/>
              </a:rPr>
              <a:t>04   PEOPLE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spc="20">
                <a:solidFill>
                  <a:srgbClr val="2D2D2D"/>
                </a:solidFill>
                <a:latin typeface="微软雅黑"/>
                <a:ea typeface="微软雅黑"/>
                <a:latin typeface="微软雅黑"/>
              </a:rPr>
              <a:t>熟练人员不必再耗在做表上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554480"/>
            <a:ext cx="5212080" cy="4434840"/>
          </a:xfrm>
          <a:prstGeom prst="rect">
            <a:avLst/>
          </a:prstGeom>
          <a:solidFill>
            <a:srgbClr val="FFFFFF"/>
          </a:solidFill>
          <a:ln w="9525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554480"/>
            <a:ext cx="5212080" cy="41148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828800"/>
            <a:ext cx="45720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8A8A8A"/>
                </a:solidFill>
                <a:latin typeface="微软雅黑"/>
                <a:ea typeface="微软雅黑"/>
                <a:latin typeface="微软雅黑"/>
              </a:rPr>
              <a:t>Excel 手工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286000"/>
            <a:ext cx="4663440" cy="1051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ts val="4200"/>
              </a:lnSpc>
            </a:pPr>
            <a:r>
              <a:rPr sz="3200" b="1">
                <a:solidFill>
                  <a:srgbClr val="2D2D2D"/>
                </a:solidFill>
                <a:latin typeface="微软雅黑"/>
                <a:ea typeface="微软雅黑"/>
                <a:latin typeface="微软雅黑"/>
              </a:rPr>
              <a:t>熟练人员</a:t>
            </a:r>
          </a:p>
          <a:p>
            <a:pPr algn="l">
              <a:lnSpc>
                <a:spcPts val="4200"/>
              </a:lnSpc>
            </a:pPr>
            <a:r>
              <a:rPr sz="3200" b="1">
                <a:solidFill>
                  <a:srgbClr val="2D2D2D"/>
                </a:solidFill>
                <a:latin typeface="微软雅黑"/>
                <a:ea typeface="微软雅黑"/>
                <a:latin typeface="微软雅黑"/>
              </a:rPr>
              <a:t>好几天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977639"/>
            <a:ext cx="4526280" cy="164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ts val="2600"/>
              </a:lnSpc>
            </a:pPr>
            <a:r>
              <a:rPr sz="1500" b="0">
                <a:solidFill>
                  <a:srgbClr val="6B6B6B"/>
                </a:solidFill>
                <a:latin typeface="微软雅黑"/>
                <a:ea typeface="微软雅黑"/>
                <a:latin typeface="微软雅黑"/>
              </a:rPr>
              <a:t>一事一议、总成、采购对象，</a:t>
            </a:r>
          </a:p>
          <a:p>
            <a:pPr algn="l">
              <a:lnSpc>
                <a:spcPts val="2600"/>
              </a:lnSpc>
            </a:pPr>
            <a:r>
              <a:rPr sz="1500" b="0">
                <a:solidFill>
                  <a:srgbClr val="6B6B6B"/>
                </a:solidFill>
                <a:latin typeface="微软雅黑"/>
                <a:ea typeface="微软雅黑"/>
                <a:latin typeface="微软雅黑"/>
              </a:rPr>
              <a:t>都压在这几天里。</a:t>
            </a:r>
          </a:p>
          <a:p>
            <a:pPr algn="l">
              <a:lnSpc>
                <a:spcPts val="2600"/>
              </a:lnSpc>
            </a:pPr>
            <a:r>
              <a:rPr sz="1500" b="0">
                <a:solidFill>
                  <a:srgbClr val="6B6B6B"/>
                </a:solidFill>
                <a:latin typeface="微软雅黑"/>
                <a:ea typeface="微软雅黑"/>
                <a:latin typeface="微软雅黑"/>
              </a:rPr>
              <a:t>人一走，账就停。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1554480"/>
            <a:ext cx="5212080" cy="4434840"/>
          </a:xfrm>
          <a:prstGeom prst="rect">
            <a:avLst/>
          </a:prstGeom>
          <a:solidFill>
            <a:srgbClr val="FFFFFF"/>
          </a:solidFill>
          <a:ln w="9525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09360" y="1554480"/>
            <a:ext cx="5212080" cy="41148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9400" y="1828800"/>
            <a:ext cx="45720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D04A02"/>
                </a:solidFill>
                <a:latin typeface="微软雅黑"/>
                <a:ea typeface="微软雅黑"/>
                <a:latin typeface="微软雅黑"/>
              </a:rPr>
              <a:t>现网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2286000"/>
            <a:ext cx="4663440" cy="1051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ts val="4200"/>
              </a:lnSpc>
            </a:pPr>
            <a:r>
              <a:rPr sz="3200" b="1">
                <a:solidFill>
                  <a:srgbClr val="2D2D2D"/>
                </a:solidFill>
                <a:latin typeface="微软雅黑"/>
                <a:ea typeface="微软雅黑"/>
                <a:latin typeface="微软雅黑"/>
              </a:rPr>
              <a:t>上传之后</a:t>
            </a:r>
          </a:p>
          <a:p>
            <a:pPr algn="l">
              <a:lnSpc>
                <a:spcPts val="4200"/>
              </a:lnSpc>
            </a:pPr>
            <a:r>
              <a:rPr sz="3200" b="1">
                <a:solidFill>
                  <a:srgbClr val="2D2D2D"/>
                </a:solidFill>
                <a:latin typeface="微软雅黑"/>
                <a:ea typeface="微软雅黑"/>
                <a:latin typeface="微软雅黑"/>
              </a:rPr>
              <a:t>约 20 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3977639"/>
            <a:ext cx="4572000" cy="164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ts val="2600"/>
              </a:lnSpc>
            </a:pPr>
            <a:r>
              <a:rPr sz="1500" b="0">
                <a:solidFill>
                  <a:srgbClr val="6B6B6B"/>
                </a:solidFill>
                <a:latin typeface="微软雅黑"/>
                <a:ea typeface="微软雅黑"/>
                <a:latin typeface="微软雅黑"/>
              </a:rPr>
              <a:t>规则在引擎里。</a:t>
            </a:r>
          </a:p>
          <a:p>
            <a:pPr algn="l">
              <a:lnSpc>
                <a:spcPts val="2600"/>
              </a:lnSpc>
            </a:pPr>
            <a:r>
              <a:rPr sz="1500" b="0">
                <a:solidFill>
                  <a:srgbClr val="6B6B6B"/>
                </a:solidFill>
                <a:latin typeface="微软雅黑"/>
                <a:ea typeface="微软雅黑"/>
                <a:latin typeface="微软雅黑"/>
              </a:rPr>
              <a:t>同样的人去谈价、看异常。</a:t>
            </a:r>
          </a:p>
          <a:p>
            <a:pPr algn="l">
              <a:lnSpc>
                <a:spcPts val="2600"/>
              </a:lnSpc>
            </a:pPr>
            <a:r>
              <a:rPr sz="1500" b="0">
                <a:solidFill>
                  <a:srgbClr val="6B6B6B"/>
                </a:solidFill>
                <a:latin typeface="微软雅黑"/>
                <a:ea typeface="微软雅黑"/>
                <a:latin typeface="微软雅黑"/>
              </a:rPr>
              <a:t>能力留在公司，不在个人身上。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40080" y="6510528"/>
            <a:ext cx="10908792" cy="0"/>
          </a:xfrm>
          <a:prstGeom prst="line">
            <a:avLst/>
          </a:prstGeom>
          <a:ln w="7620">
            <a:solidFill>
              <a:srgbClr val="E6E0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40080" y="6565392"/>
            <a:ext cx="54864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000" b="0" spc="40">
                <a:solidFill>
                  <a:srgbClr val="8A8A8A"/>
                </a:solidFill>
                <a:latin typeface="微软雅黑"/>
                <a:ea typeface="微软雅黑"/>
                <a:latin typeface="微软雅黑"/>
              </a:rPr>
              <a:t>普炳软件  ·  核价平台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09760" y="6565392"/>
            <a:ext cx="201168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000" b="0" spc="40">
                <a:solidFill>
                  <a:srgbClr val="8A8A8A"/>
                </a:solidFill>
                <a:latin typeface="Arial"/>
                <a:ea typeface="微软雅黑"/>
                <a:latin typeface="Arial"/>
              </a:rPr>
              <a:t>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420624"/>
            <a:ext cx="256032" cy="54864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347472"/>
            <a:ext cx="91440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100" b="0" spc="200">
                <a:solidFill>
                  <a:srgbClr val="D04A02"/>
                </a:solidFill>
                <a:latin typeface="Arial"/>
                <a:ea typeface="微软雅黑"/>
                <a:latin typeface="Arial"/>
              </a:rPr>
              <a:t>05   WELD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spc="20">
                <a:solidFill>
                  <a:srgbClr val="2D2D2D"/>
                </a:solidFill>
                <a:latin typeface="微软雅黑"/>
                <a:ea typeface="微软雅黑"/>
                <a:latin typeface="微软雅黑"/>
              </a:rPr>
              <a:t>买的是分总成，卖的是焊完的总成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554480"/>
            <a:ext cx="3611880" cy="4434840"/>
          </a:xfrm>
          <a:prstGeom prst="rect">
            <a:avLst/>
          </a:prstGeom>
          <a:solidFill>
            <a:srgbClr val="FFFFFF"/>
          </a:solidFill>
          <a:ln w="9525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554480"/>
            <a:ext cx="3611880" cy="41148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874519"/>
            <a:ext cx="31089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D04A02"/>
                </a:solidFill>
                <a:latin typeface="微软雅黑"/>
                <a:ea typeface="微软雅黑"/>
                <a:latin typeface="微软雅黑"/>
              </a:rPr>
              <a:t>卖出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331720"/>
            <a:ext cx="3108960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>
                <a:solidFill>
                  <a:srgbClr val="2D2D2D"/>
                </a:solidFill>
                <a:latin typeface="微软雅黑"/>
                <a:ea typeface="微软雅黑"/>
                <a:latin typeface="微软雅黑"/>
              </a:rPr>
              <a:t>焊完的总成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3566160"/>
            <a:ext cx="3108960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ts val="2600"/>
              </a:lnSpc>
            </a:pPr>
            <a:r>
              <a:rPr sz="1600" b="0">
                <a:solidFill>
                  <a:srgbClr val="6B6B6B"/>
                </a:solidFill>
                <a:latin typeface="微软雅黑"/>
                <a:ea typeface="微软雅黑"/>
                <a:latin typeface="微软雅黑"/>
              </a:rPr>
              <a:t>开给奇瑞的是总成。</a:t>
            </a:r>
          </a:p>
          <a:p>
            <a:pPr algn="l">
              <a:lnSpc>
                <a:spcPts val="2600"/>
              </a:lnSpc>
            </a:pPr>
            <a:r>
              <a:rPr sz="1600" b="0">
                <a:solidFill>
                  <a:srgbClr val="6B6B6B"/>
                </a:solidFill>
                <a:latin typeface="微软雅黑"/>
                <a:ea typeface="微软雅黑"/>
                <a:latin typeface="微软雅黑"/>
              </a:rPr>
              <a:t>谈价、开票看这一本。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1554480"/>
            <a:ext cx="3611880" cy="4434840"/>
          </a:xfrm>
          <a:prstGeom prst="rect">
            <a:avLst/>
          </a:prstGeom>
          <a:solidFill>
            <a:srgbClr val="FFFFFF"/>
          </a:solidFill>
          <a:ln w="9525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34840" y="1554480"/>
            <a:ext cx="3611880" cy="41148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90872" y="1874519"/>
            <a:ext cx="31089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D04A02"/>
                </a:solidFill>
                <a:latin typeface="微软雅黑"/>
                <a:ea typeface="微软雅黑"/>
                <a:latin typeface="微软雅黑"/>
              </a:rPr>
              <a:t>买入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90872" y="2331720"/>
            <a:ext cx="3108960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>
                <a:solidFill>
                  <a:srgbClr val="2D2D2D"/>
                </a:solidFill>
                <a:latin typeface="微软雅黑"/>
                <a:ea typeface="微软雅黑"/>
                <a:latin typeface="微软雅黑"/>
              </a:rPr>
              <a:t>分总成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90872" y="3566160"/>
            <a:ext cx="3108960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ts val="2600"/>
              </a:lnSpc>
            </a:pPr>
            <a:r>
              <a:rPr sz="1600" b="0">
                <a:solidFill>
                  <a:srgbClr val="6B6B6B"/>
                </a:solidFill>
                <a:latin typeface="微软雅黑"/>
                <a:ea typeface="微软雅黑"/>
                <a:latin typeface="微软雅黑"/>
              </a:rPr>
              <a:t>付给二级商的是分总成。</a:t>
            </a:r>
          </a:p>
          <a:p>
            <a:pPr algn="l">
              <a:lnSpc>
                <a:spcPts val="2600"/>
              </a:lnSpc>
            </a:pPr>
            <a:r>
              <a:rPr sz="1600" b="0">
                <a:solidFill>
                  <a:srgbClr val="6B6B6B"/>
                </a:solidFill>
                <a:latin typeface="微软雅黑"/>
                <a:ea typeface="微软雅黑"/>
                <a:latin typeface="微软雅黑"/>
              </a:rPr>
              <a:t>买回来还要再焊。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0" y="1554480"/>
            <a:ext cx="3611880" cy="4434840"/>
          </a:xfrm>
          <a:prstGeom prst="rect">
            <a:avLst/>
          </a:prstGeom>
          <a:solidFill>
            <a:srgbClr val="FFFFFF"/>
          </a:solidFill>
          <a:ln w="9525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600" y="1554480"/>
            <a:ext cx="3611880" cy="41148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85632" y="1874519"/>
            <a:ext cx="31089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D04A02"/>
                </a:solidFill>
                <a:latin typeface="微软雅黑"/>
                <a:ea typeface="微软雅黑"/>
                <a:latin typeface="微软雅黑"/>
              </a:rPr>
              <a:t>中间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85632" y="2331720"/>
            <a:ext cx="3108960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>
                <a:solidFill>
                  <a:srgbClr val="2D2D2D"/>
                </a:solidFill>
                <a:latin typeface="微软雅黑"/>
                <a:ea typeface="微软雅黑"/>
                <a:latin typeface="微软雅黑"/>
              </a:rPr>
              <a:t>公司焊接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85632" y="3566160"/>
            <a:ext cx="3108960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ts val="2600"/>
              </a:lnSpc>
            </a:pPr>
            <a:r>
              <a:rPr sz="1600" b="0">
                <a:solidFill>
                  <a:srgbClr val="6B6B6B"/>
                </a:solidFill>
                <a:latin typeface="微软雅黑"/>
                <a:ea typeface="微软雅黑"/>
                <a:latin typeface="微软雅黑"/>
              </a:rPr>
              <a:t>分总成要焊成总成。</a:t>
            </a:r>
          </a:p>
          <a:p>
            <a:pPr algn="l">
              <a:lnSpc>
                <a:spcPts val="2600"/>
              </a:lnSpc>
            </a:pPr>
            <a:r>
              <a:rPr sz="1600" b="0">
                <a:solidFill>
                  <a:srgbClr val="6B6B6B"/>
                </a:solidFill>
                <a:latin typeface="微软雅黑"/>
                <a:ea typeface="微软雅黑"/>
                <a:latin typeface="微软雅黑"/>
              </a:rPr>
              <a:t>这一截是焊接，不是毛利。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40080" y="6510528"/>
            <a:ext cx="10908792" cy="0"/>
          </a:xfrm>
          <a:prstGeom prst="line">
            <a:avLst/>
          </a:prstGeom>
          <a:ln w="7620">
            <a:solidFill>
              <a:srgbClr val="E6E0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40080" y="6565392"/>
            <a:ext cx="54864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000" b="0" spc="40">
                <a:solidFill>
                  <a:srgbClr val="8A8A8A"/>
                </a:solidFill>
                <a:latin typeface="微软雅黑"/>
                <a:ea typeface="微软雅黑"/>
                <a:latin typeface="微软雅黑"/>
              </a:rPr>
              <a:t>普炳软件  ·  核价平台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09760" y="6565392"/>
            <a:ext cx="201168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000" b="0" spc="40">
                <a:solidFill>
                  <a:srgbClr val="8A8A8A"/>
                </a:solidFill>
                <a:latin typeface="Arial"/>
                <a:ea typeface="微软雅黑"/>
                <a:latin typeface="Arial"/>
              </a:rPr>
              <a:t>6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420624"/>
            <a:ext cx="256032" cy="54864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347472"/>
            <a:ext cx="91440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100" b="0" spc="200">
                <a:solidFill>
                  <a:srgbClr val="D04A02"/>
                </a:solidFill>
                <a:latin typeface="Arial"/>
                <a:ea typeface="微软雅黑"/>
                <a:latin typeface="Arial"/>
              </a:rPr>
              <a:t>06   MONTH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spc="20">
                <a:solidFill>
                  <a:srgbClr val="2D2D2D"/>
                </a:solidFill>
                <a:latin typeface="微软雅黑"/>
                <a:ea typeface="微软雅黑"/>
                <a:latin typeface="微软雅黑"/>
              </a:rPr>
              <a:t>价跟着当月的事实走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554480"/>
            <a:ext cx="5212080" cy="4434840"/>
          </a:xfrm>
          <a:prstGeom prst="rect">
            <a:avLst/>
          </a:prstGeom>
          <a:solidFill>
            <a:srgbClr val="FFFFFF"/>
          </a:solidFill>
          <a:ln w="9525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554480"/>
            <a:ext cx="5212080" cy="41148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874519"/>
            <a:ext cx="45720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8A8A8A"/>
                </a:solidFill>
                <a:latin typeface="微软雅黑"/>
                <a:ea typeface="微软雅黑"/>
                <a:latin typeface="微软雅黑"/>
              </a:rPr>
              <a:t>Excel 手工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4663440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200" b="1">
                <a:solidFill>
                  <a:srgbClr val="2D2D2D"/>
                </a:solidFill>
                <a:latin typeface="微软雅黑"/>
                <a:ea typeface="微软雅黑"/>
                <a:latin typeface="微软雅黑"/>
              </a:rPr>
              <a:t>价晚一步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657600"/>
            <a:ext cx="4526280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ts val="2600"/>
              </a:lnSpc>
            </a:pPr>
            <a:r>
              <a:rPr sz="1500" b="0">
                <a:solidFill>
                  <a:srgbClr val="6B6B6B"/>
                </a:solidFill>
                <a:latin typeface="微软雅黑"/>
                <a:ea typeface="微软雅黑"/>
                <a:latin typeface="微软雅黑"/>
              </a:rPr>
              <a:t>钢价变了，设变来了。</a:t>
            </a:r>
          </a:p>
          <a:p>
            <a:pPr algn="l">
              <a:lnSpc>
                <a:spcPts val="2600"/>
              </a:lnSpc>
            </a:pPr>
            <a:r>
              <a:rPr sz="1500" b="0">
                <a:solidFill>
                  <a:srgbClr val="6B6B6B"/>
                </a:solidFill>
                <a:latin typeface="微软雅黑"/>
                <a:ea typeface="微软雅黑"/>
                <a:latin typeface="微软雅黑"/>
              </a:rPr>
              <a:t>表还停在文件夹里。</a:t>
            </a:r>
          </a:p>
          <a:p>
            <a:pPr algn="l">
              <a:lnSpc>
                <a:spcPts val="2600"/>
              </a:lnSpc>
            </a:pPr>
            <a:r>
              <a:rPr sz="1500" b="0">
                <a:solidFill>
                  <a:srgbClr val="6B6B6B"/>
                </a:solidFill>
                <a:latin typeface="微软雅黑"/>
                <a:ea typeface="微软雅黑"/>
                <a:latin typeface="微软雅黑"/>
              </a:rPr>
              <a:t>该向奇瑞调的，晚了一个月。</a:t>
            </a:r>
          </a:p>
          <a:p>
            <a:pPr algn="l">
              <a:lnSpc>
                <a:spcPts val="2600"/>
              </a:lnSpc>
            </a:pPr>
            <a:r>
              <a:rPr sz="1500" b="0">
                <a:solidFill>
                  <a:srgbClr val="6B6B6B"/>
                </a:solidFill>
                <a:latin typeface="微软雅黑"/>
                <a:ea typeface="微软雅黑"/>
                <a:latin typeface="微软雅黑"/>
              </a:rPr>
              <a:t>该向二级商调的，也晚了。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1554480"/>
            <a:ext cx="5212080" cy="4434840"/>
          </a:xfrm>
          <a:prstGeom prst="rect">
            <a:avLst/>
          </a:prstGeom>
          <a:solidFill>
            <a:srgbClr val="FFFFFF"/>
          </a:solidFill>
          <a:ln w="9525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09360" y="1554480"/>
            <a:ext cx="5212080" cy="41148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9400" y="1874519"/>
            <a:ext cx="45720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D04A02"/>
                </a:solidFill>
                <a:latin typeface="微软雅黑"/>
                <a:ea typeface="微软雅黑"/>
                <a:latin typeface="微软雅黑"/>
              </a:rPr>
              <a:t>现网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2331720"/>
            <a:ext cx="4663440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200" b="1">
                <a:solidFill>
                  <a:srgbClr val="2D2D2D"/>
                </a:solidFill>
                <a:latin typeface="微软雅黑"/>
                <a:ea typeface="微软雅黑"/>
                <a:latin typeface="微软雅黑"/>
              </a:rPr>
              <a:t>当月算当月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3657600"/>
            <a:ext cx="4572000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ts val="2600"/>
              </a:lnSpc>
            </a:pPr>
            <a:r>
              <a:rPr sz="1500" b="0">
                <a:solidFill>
                  <a:srgbClr val="6B6B6B"/>
                </a:solidFill>
                <a:latin typeface="微软雅黑"/>
                <a:ea typeface="微软雅黑"/>
                <a:latin typeface="微软雅黑"/>
              </a:rPr>
              <a:t>钢价、BOM、工艺、设变，</a:t>
            </a:r>
          </a:p>
          <a:p>
            <a:pPr algn="l">
              <a:lnSpc>
                <a:spcPts val="2600"/>
              </a:lnSpc>
            </a:pPr>
            <a:r>
              <a:rPr sz="1500" b="0">
                <a:solidFill>
                  <a:srgbClr val="6B6B6B"/>
                </a:solidFill>
                <a:latin typeface="微软雅黑"/>
                <a:ea typeface="微软雅黑"/>
                <a:latin typeface="微软雅黑"/>
              </a:rPr>
              <a:t>进入当月一起算。</a:t>
            </a:r>
          </a:p>
          <a:p>
            <a:pPr algn="l">
              <a:lnSpc>
                <a:spcPts val="2600"/>
              </a:lnSpc>
            </a:pPr>
            <a:r>
              <a:rPr sz="1500" b="0">
                <a:solidFill>
                  <a:srgbClr val="6B6B6B"/>
                </a:solidFill>
                <a:latin typeface="微软雅黑"/>
                <a:ea typeface="微软雅黑"/>
                <a:latin typeface="微软雅黑"/>
              </a:rPr>
              <a:t>开票价和采购价一起跟上。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40080" y="6510528"/>
            <a:ext cx="10908792" cy="0"/>
          </a:xfrm>
          <a:prstGeom prst="line">
            <a:avLst/>
          </a:prstGeom>
          <a:ln w="7620">
            <a:solidFill>
              <a:srgbClr val="E6E0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40080" y="6565392"/>
            <a:ext cx="54864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000" b="0" spc="40">
                <a:solidFill>
                  <a:srgbClr val="8A8A8A"/>
                </a:solidFill>
                <a:latin typeface="微软雅黑"/>
                <a:ea typeface="微软雅黑"/>
                <a:latin typeface="微软雅黑"/>
              </a:rPr>
              <a:t>普炳软件  ·  核价平台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09760" y="6565392"/>
            <a:ext cx="201168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000" b="0" spc="40">
                <a:solidFill>
                  <a:srgbClr val="8A8A8A"/>
                </a:solidFill>
                <a:latin typeface="Arial"/>
                <a:ea typeface="微软雅黑"/>
                <a:latin typeface="Arial"/>
              </a:rPr>
              <a:t>7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420624"/>
            <a:ext cx="256032" cy="54864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347472"/>
            <a:ext cx="91440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100" b="0" spc="200">
                <a:solidFill>
                  <a:srgbClr val="D04A02"/>
                </a:solidFill>
                <a:latin typeface="Arial"/>
                <a:ea typeface="微软雅黑"/>
                <a:latin typeface="Arial"/>
              </a:rPr>
              <a:t>07   TRACE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spc="20">
                <a:solidFill>
                  <a:srgbClr val="2D2D2D"/>
                </a:solidFill>
                <a:latin typeface="微软雅黑"/>
                <a:ea typeface="微软雅黑"/>
                <a:latin typeface="微软雅黑"/>
              </a:rPr>
              <a:t>对得上，就不必再开会扯皮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508760"/>
            <a:ext cx="5532120" cy="2084831"/>
          </a:xfrm>
          <a:prstGeom prst="rect">
            <a:avLst/>
          </a:prstGeom>
          <a:solidFill>
            <a:srgbClr val="FFFFFF"/>
          </a:solidFill>
          <a:ln w="9525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508760"/>
            <a:ext cx="5532120" cy="41148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856232"/>
            <a:ext cx="49377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>
                <a:solidFill>
                  <a:srgbClr val="2D2D2D"/>
                </a:solidFill>
                <a:latin typeface="微软雅黑"/>
                <a:ea typeface="微软雅黑"/>
                <a:latin typeface="微软雅黑"/>
              </a:rPr>
              <a:t>哪份文件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514600"/>
            <a:ext cx="4937760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ts val="2600"/>
              </a:lnSpc>
            </a:pPr>
            <a:r>
              <a:rPr sz="1600" b="0">
                <a:solidFill>
                  <a:srgbClr val="6B6B6B"/>
                </a:solidFill>
                <a:latin typeface="微软雅黑"/>
                <a:ea typeface="微软雅黑"/>
                <a:latin typeface="微软雅黑"/>
              </a:rPr>
              <a:t>当时用的 Excel 能找回。省下的是翻私人拷贝。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508760"/>
            <a:ext cx="5532120" cy="2084831"/>
          </a:xfrm>
          <a:prstGeom prst="rect">
            <a:avLst/>
          </a:prstGeom>
          <a:solidFill>
            <a:srgbClr val="FFFFFF"/>
          </a:solidFill>
          <a:ln w="9525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0" y="1508760"/>
            <a:ext cx="5532120" cy="41148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93408" y="1856232"/>
            <a:ext cx="49377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>
                <a:solidFill>
                  <a:srgbClr val="2D2D2D"/>
                </a:solidFill>
                <a:latin typeface="微软雅黑"/>
                <a:ea typeface="微软雅黑"/>
                <a:latin typeface="微软雅黑"/>
              </a:rPr>
              <a:t>谁操作的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93408" y="2514600"/>
            <a:ext cx="4937760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ts val="2600"/>
              </a:lnSpc>
            </a:pPr>
            <a:r>
              <a:rPr sz="1600" b="0">
                <a:solidFill>
                  <a:srgbClr val="6B6B6B"/>
                </a:solidFill>
                <a:latin typeface="微软雅黑"/>
                <a:ea typeface="微软雅黑"/>
                <a:latin typeface="微软雅黑"/>
              </a:rPr>
              <a:t>上传、计算、变更有日志。责任落得到人。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794760"/>
            <a:ext cx="5532120" cy="2084831"/>
          </a:xfrm>
          <a:prstGeom prst="rect">
            <a:avLst/>
          </a:prstGeom>
          <a:solidFill>
            <a:srgbClr val="FFFFFF"/>
          </a:solidFill>
          <a:ln w="9525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3794760"/>
            <a:ext cx="5532120" cy="41148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2688" y="4142232"/>
            <a:ext cx="49377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>
                <a:solidFill>
                  <a:srgbClr val="2D2D2D"/>
                </a:solidFill>
                <a:latin typeface="微软雅黑"/>
                <a:ea typeface="微软雅黑"/>
                <a:latin typeface="微软雅黑"/>
              </a:rPr>
              <a:t>当期哪版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" y="4800600"/>
            <a:ext cx="4937760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ts val="2600"/>
              </a:lnSpc>
            </a:pPr>
            <a:r>
              <a:rPr sz="1600" b="0">
                <a:solidFill>
                  <a:srgbClr val="6B6B6B"/>
                </a:solidFill>
                <a:latin typeface="微软雅黑"/>
                <a:ea typeface="微软雅黑"/>
                <a:latin typeface="微软雅黑"/>
              </a:rPr>
              <a:t>钢价、BOM、工艺、设变按月对齐。不会用错月。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0" y="3794760"/>
            <a:ext cx="5532120" cy="2084831"/>
          </a:xfrm>
          <a:prstGeom prst="rect">
            <a:avLst/>
          </a:prstGeom>
          <a:solidFill>
            <a:srgbClr val="FFFFFF"/>
          </a:solidFill>
          <a:ln w="9525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0" y="3794760"/>
            <a:ext cx="5532120" cy="41148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93408" y="4142232"/>
            <a:ext cx="49377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>
                <a:solidFill>
                  <a:srgbClr val="2D2D2D"/>
                </a:solidFill>
                <a:latin typeface="微软雅黑"/>
                <a:ea typeface="微软雅黑"/>
                <a:latin typeface="微软雅黑"/>
              </a:rPr>
              <a:t>同一套规则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93408" y="4800600"/>
            <a:ext cx="4937760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ts val="2600"/>
              </a:lnSpc>
            </a:pPr>
            <a:r>
              <a:rPr sz="1600" b="0">
                <a:solidFill>
                  <a:srgbClr val="6B6B6B"/>
                </a:solidFill>
                <a:latin typeface="微软雅黑"/>
                <a:ea typeface="微软雅黑"/>
                <a:latin typeface="微软雅黑"/>
              </a:rPr>
              <a:t>总成价、分总成价同一引擎，各算各的。</a:t>
            </a:r>
          </a:p>
          <a:p>
            <a:pPr algn="l">
              <a:lnSpc>
                <a:spcPts val="2600"/>
              </a:lnSpc>
            </a:pPr>
            <a:r>
              <a:rPr sz="1600" b="0">
                <a:solidFill>
                  <a:srgbClr val="6B6B6B"/>
                </a:solidFill>
                <a:latin typeface="微软雅黑"/>
                <a:ea typeface="微软雅黑"/>
                <a:latin typeface="微软雅黑"/>
              </a:rPr>
              <a:t>焊费计在总成上，不重复计。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40080" y="6510528"/>
            <a:ext cx="10908792" cy="0"/>
          </a:xfrm>
          <a:prstGeom prst="line">
            <a:avLst/>
          </a:prstGeom>
          <a:ln w="7620">
            <a:solidFill>
              <a:srgbClr val="E6E0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40080" y="6565392"/>
            <a:ext cx="54864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000" b="0" spc="40">
                <a:solidFill>
                  <a:srgbClr val="8A8A8A"/>
                </a:solidFill>
                <a:latin typeface="微软雅黑"/>
                <a:ea typeface="微软雅黑"/>
                <a:latin typeface="微软雅黑"/>
              </a:rPr>
              <a:t>普炳软件  ·  核价平台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09760" y="6565392"/>
            <a:ext cx="201168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000" b="0" spc="40">
                <a:solidFill>
                  <a:srgbClr val="8A8A8A"/>
                </a:solidFill>
                <a:latin typeface="Arial"/>
                <a:ea typeface="微软雅黑"/>
                <a:latin typeface="Arial"/>
              </a:rPr>
              <a:t>8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420624"/>
            <a:ext cx="256032" cy="54864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347472"/>
            <a:ext cx="91440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100" b="0" spc="200">
                <a:solidFill>
                  <a:srgbClr val="D04A02"/>
                </a:solidFill>
                <a:latin typeface="Arial"/>
                <a:ea typeface="微软雅黑"/>
                <a:latin typeface="Arial"/>
              </a:rPr>
              <a:t>08   ANSWER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spc="20">
                <a:solidFill>
                  <a:srgbClr val="2D2D2D"/>
                </a:solidFill>
                <a:latin typeface="微软雅黑"/>
                <a:ea typeface="微软雅黑"/>
                <a:latin typeface="微软雅黑"/>
              </a:rPr>
              <a:t>看懂涨跌，不用再等做表的人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53312"/>
            <a:ext cx="10972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>
                <a:solidFill>
                  <a:srgbClr val="6B6B6B"/>
                </a:solidFill>
                <a:latin typeface="微软雅黑"/>
                <a:ea typeface="微软雅黑"/>
                <a:latin typeface="微软雅黑"/>
              </a:rPr>
              <a:t>数字由引擎计算。AI 只讲原因。约 30 秒抓住问题、关键数字和核对线索。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28800"/>
            <a:ext cx="10908792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0292" cy="731520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956816"/>
            <a:ext cx="64008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200" b="0">
                <a:solidFill>
                  <a:srgbClr val="D04A02"/>
                </a:solidFill>
                <a:latin typeface="Arial"/>
                <a:ea typeface="微软雅黑"/>
                <a:latin typeface="Arial"/>
              </a:rPr>
              <a:t>Q1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1956816"/>
            <a:ext cx="941832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700" b="0">
                <a:solidFill>
                  <a:srgbClr val="2D2D2D"/>
                </a:solidFill>
                <a:latin typeface="微软雅黑"/>
                <a:ea typeface="微软雅黑"/>
                <a:latin typeface="微软雅黑"/>
              </a:rPr>
              <a:t>这个月总成开给奇瑞的价，为什么涨了？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651760"/>
            <a:ext cx="10908792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2651760"/>
            <a:ext cx="50292" cy="731520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2779776"/>
            <a:ext cx="64008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200" b="0">
                <a:solidFill>
                  <a:srgbClr val="D04A02"/>
                </a:solidFill>
                <a:latin typeface="Arial"/>
                <a:ea typeface="微软雅黑"/>
                <a:latin typeface="Arial"/>
              </a:rPr>
              <a:t>Q2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37360" y="2779776"/>
            <a:ext cx="941832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700" b="0">
                <a:solidFill>
                  <a:srgbClr val="2D2D2D"/>
                </a:solidFill>
                <a:latin typeface="微软雅黑"/>
                <a:ea typeface="微软雅黑"/>
                <a:latin typeface="微软雅黑"/>
              </a:rPr>
              <a:t>向二级商采购的对象，哪些涨幅最大？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3474720"/>
            <a:ext cx="10908792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3474720"/>
            <a:ext cx="50292" cy="731520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3602736"/>
            <a:ext cx="64008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200" b="0">
                <a:solidFill>
                  <a:srgbClr val="D04A02"/>
                </a:solidFill>
                <a:latin typeface="Arial"/>
                <a:ea typeface="微软雅黑"/>
                <a:latin typeface="Arial"/>
              </a:rPr>
              <a:t>Q3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3602736"/>
            <a:ext cx="941832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700" b="0">
                <a:solidFill>
                  <a:srgbClr val="2D2D2D"/>
                </a:solidFill>
                <a:latin typeface="微软雅黑"/>
                <a:ea typeface="微软雅黑"/>
                <a:latin typeface="微软雅黑"/>
              </a:rPr>
              <a:t>工程变更之后，开票价和采购价各动了多少？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4297680"/>
            <a:ext cx="10908792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" y="4297680"/>
            <a:ext cx="50292" cy="731520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425696"/>
            <a:ext cx="64008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200" b="0">
                <a:solidFill>
                  <a:srgbClr val="D04A02"/>
                </a:solidFill>
                <a:latin typeface="Arial"/>
                <a:ea typeface="微软雅黑"/>
                <a:latin typeface="Arial"/>
              </a:rPr>
              <a:t>Q4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37360" y="4425696"/>
            <a:ext cx="941832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700" b="0">
                <a:solidFill>
                  <a:srgbClr val="2D2D2D"/>
                </a:solidFill>
                <a:latin typeface="微软雅黑"/>
                <a:ea typeface="微软雅黑"/>
                <a:latin typeface="微软雅黑"/>
              </a:rPr>
              <a:t>这个总成和上个月差在哪里？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5120640"/>
            <a:ext cx="10908792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0080" y="5120640"/>
            <a:ext cx="50292" cy="731520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0120" y="5248656"/>
            <a:ext cx="64008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200" b="0">
                <a:solidFill>
                  <a:srgbClr val="D04A02"/>
                </a:solidFill>
                <a:latin typeface="Arial"/>
                <a:ea typeface="微软雅黑"/>
                <a:latin typeface="Arial"/>
              </a:rPr>
              <a:t>Q5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737360" y="5248656"/>
            <a:ext cx="941832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700" b="0">
                <a:solidFill>
                  <a:srgbClr val="2D2D2D"/>
                </a:solidFill>
                <a:latin typeface="微软雅黑"/>
                <a:ea typeface="微软雅黑"/>
                <a:latin typeface="微软雅黑"/>
              </a:rPr>
              <a:t>把本月成本变化整理一下。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40080" y="6510528"/>
            <a:ext cx="10908792" cy="0"/>
          </a:xfrm>
          <a:prstGeom prst="line">
            <a:avLst/>
          </a:prstGeom>
          <a:ln w="7620">
            <a:solidFill>
              <a:srgbClr val="E6E0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40080" y="6565392"/>
            <a:ext cx="54864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000" b="0" spc="40">
                <a:solidFill>
                  <a:srgbClr val="8A8A8A"/>
                </a:solidFill>
                <a:latin typeface="微软雅黑"/>
                <a:ea typeface="微软雅黑"/>
                <a:latin typeface="微软雅黑"/>
              </a:rPr>
              <a:t>普炳软件  ·  核价平台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509760" y="6565392"/>
            <a:ext cx="201168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000" b="0" spc="40">
                <a:solidFill>
                  <a:srgbClr val="8A8A8A"/>
                </a:solidFill>
                <a:latin typeface="Arial"/>
                <a:ea typeface="微软雅黑"/>
                <a:latin typeface="Arial"/>
              </a:rPr>
              <a:t>9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420624"/>
            <a:ext cx="256032" cy="54864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347472"/>
            <a:ext cx="91440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100" b="0" spc="200">
                <a:solidFill>
                  <a:srgbClr val="D04A02"/>
                </a:solidFill>
                <a:latin typeface="Arial"/>
                <a:ea typeface="微软雅黑"/>
                <a:latin typeface="Arial"/>
              </a:rPr>
              <a:t>09   ASK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spc="20">
                <a:solidFill>
                  <a:srgbClr val="2D2D2D"/>
                </a:solidFill>
                <a:latin typeface="微软雅黑"/>
                <a:ea typeface="微软雅黑"/>
                <a:latin typeface="微软雅黑"/>
              </a:rPr>
              <a:t>问一句为什么涨，人只负责开口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17320"/>
            <a:ext cx="50292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8A8A8A"/>
                </a:solidFill>
                <a:latin typeface="微软雅黑"/>
                <a:ea typeface="微软雅黑"/>
                <a:latin typeface="微软雅黑"/>
              </a:rPr>
              <a:t>Excel 手工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417320"/>
            <a:ext cx="50292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D04A02"/>
                </a:solidFill>
                <a:latin typeface="微软雅黑"/>
                <a:ea typeface="微软雅黑"/>
                <a:latin typeface="微软雅黑"/>
              </a:rPr>
              <a:t>现网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783080"/>
            <a:ext cx="5029200" cy="713232"/>
          </a:xfrm>
          <a:prstGeom prst="rect">
            <a:avLst/>
          </a:prstGeom>
          <a:solidFill>
            <a:srgbClr val="F3EEE6"/>
          </a:solidFill>
          <a:ln w="9525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911096"/>
            <a:ext cx="448056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600" b="0">
                <a:solidFill>
                  <a:srgbClr val="6B6B6B"/>
                </a:solidFill>
                <a:latin typeface="微软雅黑"/>
                <a:ea typeface="微软雅黑"/>
                <a:latin typeface="微软雅黑"/>
              </a:rPr>
              <a:t>01    人找 Excel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606040"/>
            <a:ext cx="5029200" cy="713232"/>
          </a:xfrm>
          <a:prstGeom prst="rect">
            <a:avLst/>
          </a:prstGeom>
          <a:solidFill>
            <a:srgbClr val="F3EEE6"/>
          </a:solidFill>
          <a:ln w="9525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734056"/>
            <a:ext cx="448056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600" b="0">
                <a:solidFill>
                  <a:srgbClr val="6B6B6B"/>
                </a:solidFill>
                <a:latin typeface="微软雅黑"/>
                <a:ea typeface="微软雅黑"/>
                <a:latin typeface="微软雅黑"/>
              </a:rPr>
              <a:t>02    找数据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429000"/>
            <a:ext cx="5029200" cy="713232"/>
          </a:xfrm>
          <a:prstGeom prst="rect">
            <a:avLst/>
          </a:prstGeom>
          <a:solidFill>
            <a:srgbClr val="F3EEE6"/>
          </a:solidFill>
          <a:ln w="9525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557016"/>
            <a:ext cx="448056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600" b="0">
                <a:solidFill>
                  <a:srgbClr val="6B6B6B"/>
                </a:solidFill>
                <a:latin typeface="微软雅黑"/>
                <a:ea typeface="微软雅黑"/>
                <a:latin typeface="微软雅黑"/>
              </a:rPr>
              <a:t>03    找公式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251960"/>
            <a:ext cx="5029200" cy="713232"/>
          </a:xfrm>
          <a:prstGeom prst="rect">
            <a:avLst/>
          </a:prstGeom>
          <a:solidFill>
            <a:srgbClr val="F3EEE6"/>
          </a:solidFill>
          <a:ln w="9525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379976"/>
            <a:ext cx="448056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600" b="0">
                <a:solidFill>
                  <a:srgbClr val="6B6B6B"/>
                </a:solidFill>
                <a:latin typeface="微软雅黑"/>
                <a:ea typeface="微软雅黑"/>
                <a:latin typeface="微软雅黑"/>
              </a:rPr>
              <a:t>04    做分析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5074920"/>
            <a:ext cx="5029200" cy="713232"/>
          </a:xfrm>
          <a:prstGeom prst="rect">
            <a:avLst/>
          </a:prstGeom>
          <a:solidFill>
            <a:srgbClr val="F3EEE6"/>
          </a:solidFill>
          <a:ln w="9525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202936"/>
            <a:ext cx="448056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600" b="0">
                <a:solidFill>
                  <a:srgbClr val="6B6B6B"/>
                </a:solidFill>
                <a:latin typeface="微软雅黑"/>
                <a:ea typeface="微软雅黑"/>
                <a:latin typeface="微软雅黑"/>
              </a:rPr>
              <a:t>05    等人下结论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92240" y="1783080"/>
            <a:ext cx="5029200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92240" y="1783080"/>
            <a:ext cx="5029200" cy="41148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12280" y="1984248"/>
            <a:ext cx="4480560" cy="49377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800" b="1">
                <a:solidFill>
                  <a:srgbClr val="2D2D2D"/>
                </a:solidFill>
                <a:latin typeface="微软雅黑"/>
                <a:ea typeface="微软雅黑"/>
                <a:latin typeface="微软雅黑"/>
              </a:rPr>
              <a:t>01    直接问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92240" y="2807208"/>
            <a:ext cx="5029200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92240" y="2807208"/>
            <a:ext cx="5029200" cy="41148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12280" y="3008376"/>
            <a:ext cx="4480560" cy="49377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800" b="1">
                <a:solidFill>
                  <a:srgbClr val="2D2D2D"/>
                </a:solidFill>
                <a:latin typeface="微软雅黑"/>
                <a:ea typeface="微软雅黑"/>
                <a:latin typeface="微软雅黑"/>
              </a:rPr>
              <a:t>02    系统取当月数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92240" y="3831336"/>
            <a:ext cx="5029200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92240" y="3831336"/>
            <a:ext cx="5029200" cy="41148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12280" y="4032504"/>
            <a:ext cx="4480560" cy="49377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800" b="1">
                <a:solidFill>
                  <a:srgbClr val="2D2D2D"/>
                </a:solidFill>
                <a:latin typeface="微软雅黑"/>
                <a:ea typeface="微软雅黑"/>
                <a:latin typeface="微软雅黑"/>
              </a:rPr>
              <a:t>03    引擎计算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92240" y="4855464"/>
            <a:ext cx="5029200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492240" y="4855464"/>
            <a:ext cx="5029200" cy="41148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12280" y="5056632"/>
            <a:ext cx="4480560" cy="49377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800" b="1">
                <a:solidFill>
                  <a:srgbClr val="2D2D2D"/>
                </a:solidFill>
                <a:latin typeface="微软雅黑"/>
                <a:ea typeface="微软雅黑"/>
                <a:latin typeface="微软雅黑"/>
              </a:rPr>
              <a:t>04    AI 讲原因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40080" y="6510528"/>
            <a:ext cx="10908792" cy="0"/>
          </a:xfrm>
          <a:prstGeom prst="line">
            <a:avLst/>
          </a:prstGeom>
          <a:ln w="7620">
            <a:solidFill>
              <a:srgbClr val="E6E0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640080" y="6565392"/>
            <a:ext cx="54864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000" b="0" spc="40">
                <a:solidFill>
                  <a:srgbClr val="8A8A8A"/>
                </a:solidFill>
                <a:latin typeface="微软雅黑"/>
                <a:ea typeface="微软雅黑"/>
                <a:latin typeface="微软雅黑"/>
              </a:rPr>
              <a:t>普炳软件  ·  核价平台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509760" y="6565392"/>
            <a:ext cx="201168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000" b="0" spc="40">
                <a:solidFill>
                  <a:srgbClr val="8A8A8A"/>
                </a:solidFill>
                <a:latin typeface="Arial"/>
                <a:ea typeface="微软雅黑"/>
                <a:latin typeface="Arial"/>
              </a:rPr>
              <a:t>10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420624"/>
            <a:ext cx="256032" cy="54864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347472"/>
            <a:ext cx="91440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100" b="0" spc="200">
                <a:solidFill>
                  <a:srgbClr val="D04A02"/>
                </a:solidFill>
                <a:latin typeface="Arial"/>
                <a:ea typeface="微软雅黑"/>
                <a:latin typeface="Arial"/>
              </a:rPr>
              <a:t>10   WHO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spc="20">
                <a:solidFill>
                  <a:srgbClr val="2D2D2D"/>
                </a:solidFill>
                <a:latin typeface="微软雅黑"/>
                <a:ea typeface="微软雅黑"/>
                <a:latin typeface="微软雅黑"/>
              </a:rPr>
              <a:t>价值交到三个岗位上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554480"/>
            <a:ext cx="3611880" cy="4434840"/>
          </a:xfrm>
          <a:prstGeom prst="rect">
            <a:avLst/>
          </a:prstGeom>
          <a:solidFill>
            <a:srgbClr val="FFFFFF"/>
          </a:solidFill>
          <a:ln w="9525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554480"/>
            <a:ext cx="3611880" cy="41148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965960"/>
            <a:ext cx="310896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spc="80">
                <a:solidFill>
                  <a:srgbClr val="D04A02"/>
                </a:solidFill>
                <a:latin typeface="Arial"/>
                <a:ea typeface="微软雅黑"/>
                <a:latin typeface="Arial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468880"/>
            <a:ext cx="310896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>
                <a:solidFill>
                  <a:srgbClr val="2D2D2D"/>
                </a:solidFill>
                <a:latin typeface="微软雅黑"/>
                <a:ea typeface="微软雅黑"/>
                <a:latin typeface="微软雅黑"/>
              </a:rPr>
              <a:t>采购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3383280"/>
            <a:ext cx="3108960" cy="2011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ts val="2600"/>
              </a:lnSpc>
            </a:pPr>
            <a:r>
              <a:rPr sz="1600" b="0">
                <a:solidFill>
                  <a:srgbClr val="6B6B6B"/>
                </a:solidFill>
                <a:latin typeface="微软雅黑"/>
                <a:ea typeface="微软雅黑"/>
                <a:latin typeface="微软雅黑"/>
              </a:rPr>
              <a:t>该付的是分总成，看这一本。</a:t>
            </a:r>
          </a:p>
          <a:p>
            <a:pPr algn="l">
              <a:lnSpc>
                <a:spcPts val="2600"/>
              </a:lnSpc>
            </a:pPr>
            <a:r>
              <a:rPr sz="1600" b="0">
                <a:solidFill>
                  <a:srgbClr val="6B6B6B"/>
                </a:solidFill>
                <a:latin typeface="微软雅黑"/>
                <a:ea typeface="微软雅黑"/>
                <a:latin typeface="微软雅黑"/>
              </a:rPr>
              <a:t>协议按结果出，不必再抄表。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1554480"/>
            <a:ext cx="3611880" cy="4434840"/>
          </a:xfrm>
          <a:prstGeom prst="rect">
            <a:avLst/>
          </a:prstGeom>
          <a:solidFill>
            <a:srgbClr val="FFFFFF"/>
          </a:solidFill>
          <a:ln w="9525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34840" y="1554480"/>
            <a:ext cx="3611880" cy="41148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90872" y="1965960"/>
            <a:ext cx="310896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spc="80">
                <a:solidFill>
                  <a:srgbClr val="D04A02"/>
                </a:solidFill>
                <a:latin typeface="Arial"/>
                <a:ea typeface="微软雅黑"/>
                <a:latin typeface="Arial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90872" y="2468880"/>
            <a:ext cx="310896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>
                <a:solidFill>
                  <a:srgbClr val="2D2D2D"/>
                </a:solidFill>
                <a:latin typeface="微软雅黑"/>
                <a:ea typeface="微软雅黑"/>
                <a:latin typeface="微软雅黑"/>
              </a:rPr>
              <a:t>财务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90872" y="3383280"/>
            <a:ext cx="3108960" cy="2011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ts val="2600"/>
              </a:lnSpc>
            </a:pPr>
            <a:r>
              <a:rPr sz="1600" b="0">
                <a:solidFill>
                  <a:srgbClr val="6B6B6B"/>
                </a:solidFill>
                <a:latin typeface="微软雅黑"/>
                <a:ea typeface="微软雅黑"/>
                <a:latin typeface="微软雅黑"/>
              </a:rPr>
              <a:t>总成开票、分总成应付，</a:t>
            </a:r>
          </a:p>
          <a:p>
            <a:pPr algn="l">
              <a:lnSpc>
                <a:spcPts val="2600"/>
              </a:lnSpc>
            </a:pPr>
            <a:r>
              <a:rPr sz="1600" b="0">
                <a:solidFill>
                  <a:srgbClr val="6B6B6B"/>
                </a:solidFill>
                <a:latin typeface="微软雅黑"/>
                <a:ea typeface="微软雅黑"/>
                <a:latin typeface="微软雅黑"/>
              </a:rPr>
              <a:t>各有一本。焊费不重复计。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0" y="1554480"/>
            <a:ext cx="3611880" cy="4434840"/>
          </a:xfrm>
          <a:prstGeom prst="rect">
            <a:avLst/>
          </a:prstGeom>
          <a:solidFill>
            <a:srgbClr val="FFFFFF"/>
          </a:solidFill>
          <a:ln w="9525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600" y="1554480"/>
            <a:ext cx="3611880" cy="41148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85632" y="1965960"/>
            <a:ext cx="310896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spc="80">
                <a:solidFill>
                  <a:srgbClr val="D04A02"/>
                </a:solidFill>
                <a:latin typeface="Arial"/>
                <a:ea typeface="微软雅黑"/>
                <a:latin typeface="Arial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85632" y="2468880"/>
            <a:ext cx="310896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>
                <a:solidFill>
                  <a:srgbClr val="2D2D2D"/>
                </a:solidFill>
                <a:latin typeface="微软雅黑"/>
                <a:ea typeface="微软雅黑"/>
                <a:latin typeface="微软雅黑"/>
              </a:rPr>
              <a:t>管理人员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85632" y="3383280"/>
            <a:ext cx="3108960" cy="2011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ts val="2600"/>
              </a:lnSpc>
            </a:pPr>
            <a:r>
              <a:rPr sz="1600" b="0">
                <a:solidFill>
                  <a:srgbClr val="6B6B6B"/>
                </a:solidFill>
                <a:latin typeface="微软雅黑"/>
                <a:ea typeface="微软雅黑"/>
                <a:latin typeface="微软雅黑"/>
              </a:rPr>
              <a:t>涨了为什么、差在哪里，</a:t>
            </a:r>
          </a:p>
          <a:p>
            <a:pPr algn="l">
              <a:lnSpc>
                <a:spcPts val="2600"/>
              </a:lnSpc>
            </a:pPr>
            <a:r>
              <a:rPr sz="1600" b="0">
                <a:solidFill>
                  <a:srgbClr val="6B6B6B"/>
                </a:solidFill>
                <a:latin typeface="微软雅黑"/>
                <a:ea typeface="微软雅黑"/>
                <a:latin typeface="微软雅黑"/>
              </a:rPr>
              <a:t>直接问，不必等骨干。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40080" y="6510528"/>
            <a:ext cx="10908792" cy="0"/>
          </a:xfrm>
          <a:prstGeom prst="line">
            <a:avLst/>
          </a:prstGeom>
          <a:ln w="7620">
            <a:solidFill>
              <a:srgbClr val="E6E0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40080" y="6565392"/>
            <a:ext cx="54864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000" b="0" spc="40">
                <a:solidFill>
                  <a:srgbClr val="8A8A8A"/>
                </a:solidFill>
                <a:latin typeface="微软雅黑"/>
                <a:ea typeface="微软雅黑"/>
                <a:latin typeface="微软雅黑"/>
              </a:rPr>
              <a:t>普炳软件  ·  核价平台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09760" y="6565392"/>
            <a:ext cx="201168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000" b="0" spc="40">
                <a:solidFill>
                  <a:srgbClr val="8A8A8A"/>
                </a:solidFill>
                <a:latin typeface="Arial"/>
                <a:ea typeface="微软雅黑"/>
                <a:latin typeface="Arial"/>
              </a:rPr>
              <a:t>11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D04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640080" y="1234440"/>
            <a:ext cx="1463040" cy="0"/>
          </a:xfrm>
          <a:prstGeom prst="line">
            <a:avLst/>
          </a:prstGeom>
          <a:ln w="28575">
            <a:solidFill>
              <a:srgbClr val="D04A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40080" y="1444752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spc="160">
                <a:solidFill>
                  <a:srgbClr val="D04A02"/>
                </a:solidFill>
                <a:latin typeface="Arial"/>
                <a:ea typeface="微软雅黑"/>
                <a:latin typeface="Arial"/>
              </a:rPr>
              <a:t>WHAT THEY BUY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10972800" cy="21031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ts val="4800"/>
              </a:lnSpc>
            </a:pPr>
            <a:r>
              <a:rPr sz="3200" b="1">
                <a:solidFill>
                  <a:srgbClr val="FFFFFF"/>
                </a:solidFill>
                <a:latin typeface="微软雅黑"/>
                <a:ea typeface="微软雅黑"/>
                <a:latin typeface="微软雅黑"/>
              </a:rPr>
              <a:t>人可以交接。焊费只计一次。</a:t>
            </a:r>
          </a:p>
          <a:p>
            <a:pPr algn="l">
              <a:lnSpc>
                <a:spcPts val="4800"/>
              </a:lnSpc>
            </a:pPr>
            <a:r>
              <a:rPr sz="3200" b="1">
                <a:solidFill>
                  <a:srgbClr val="FFFFFF"/>
                </a:solidFill>
                <a:latin typeface="微软雅黑"/>
                <a:ea typeface="微软雅黑"/>
                <a:latin typeface="微软雅黑"/>
              </a:rPr>
              <a:t>当月价当月算。对账有据。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297680"/>
            <a:ext cx="10972800" cy="1051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ts val="3000"/>
              </a:lnSpc>
            </a:pPr>
            <a:r>
              <a:rPr sz="1800" b="0">
                <a:solidFill>
                  <a:srgbClr val="C8C8C8"/>
                </a:solidFill>
                <a:latin typeface="微软雅黑"/>
                <a:ea typeface="微软雅黑"/>
                <a:latin typeface="微软雅黑"/>
              </a:rPr>
              <a:t>这是相对 Excel 手工，客户买走的价值。</a:t>
            </a:r>
          </a:p>
          <a:p>
            <a:pPr algn="l">
              <a:lnSpc>
                <a:spcPts val="3000"/>
              </a:lnSpc>
            </a:pPr>
            <a:r>
              <a:rPr sz="1800" b="0">
                <a:solidFill>
                  <a:srgbClr val="C8C8C8"/>
                </a:solidFill>
                <a:latin typeface="微软雅黑"/>
                <a:ea typeface="微软雅黑"/>
                <a:latin typeface="微软雅黑"/>
              </a:rPr>
              <a:t>熟练人员好几天的计算，上传依据后约 20 秒。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263640"/>
            <a:ext cx="73152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C8C8C8"/>
                </a:solidFill>
                <a:latin typeface="微软雅黑"/>
                <a:ea typeface="微软雅黑"/>
                <a:latin typeface="微软雅黑"/>
              </a:rPr>
              <a:t>普炳软件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6263640"/>
            <a:ext cx="201168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200" b="0">
                <a:solidFill>
                  <a:srgbClr val="C8C8C8"/>
                </a:solidFill>
                <a:latin typeface="Arial"/>
                <a:ea typeface="微软雅黑"/>
                <a:latin typeface="Arial"/>
              </a:rPr>
              <a:t>12 /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