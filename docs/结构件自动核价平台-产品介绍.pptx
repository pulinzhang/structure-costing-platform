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77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117.143.214.90:8000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54864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spc="40">
                <a:solidFill>
                  <a:srgbClr val="FFFFFF"/>
                </a:solidFill>
                <a:latin typeface="微软雅黑"/>
                <a:ea typeface="微软雅黑"/>
              </a:rPr>
              <a:t>普炳软件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170432"/>
            <a:ext cx="1463040" cy="0"/>
          </a:xfrm>
          <a:prstGeom prst="line">
            <a:avLst/>
          </a:prstGeom>
          <a:ln w="28575">
            <a:solidFill>
              <a:srgbClr val="D04A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3533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04A02"/>
                </a:solidFill>
                <a:latin typeface="微软雅黑"/>
                <a:ea typeface="微软雅黑"/>
              </a:rPr>
              <a:t>从靠人做表，到公司能力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结构件自动核价平台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4241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600"/>
              </a:lnSpc>
            </a:pPr>
            <a:r>
              <a:rPr sz="2200" b="0" dirty="0" err="1">
                <a:solidFill>
                  <a:srgbClr val="C8C8C8"/>
                </a:solidFill>
                <a:latin typeface="微软雅黑"/>
                <a:ea typeface="微软雅黑"/>
              </a:rPr>
              <a:t>管理人员是公司的建设者</a:t>
            </a:r>
            <a:r>
              <a:rPr sz="2200" b="0" dirty="0">
                <a:solidFill>
                  <a:srgbClr val="C8C8C8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ts val="3600"/>
              </a:lnSpc>
            </a:pPr>
            <a:r>
              <a:rPr sz="2200" b="0" dirty="0" err="1">
                <a:solidFill>
                  <a:srgbClr val="C8C8C8"/>
                </a:solidFill>
                <a:latin typeface="微软雅黑"/>
                <a:ea typeface="微软雅黑"/>
              </a:rPr>
              <a:t>核价，是数字化建设、AI</a:t>
            </a:r>
            <a:r>
              <a:rPr sz="2200" b="0" dirty="0">
                <a:solidFill>
                  <a:srgbClr val="C8C8C8"/>
                </a:solidFill>
                <a:latin typeface="微软雅黑"/>
                <a:ea typeface="微软雅黑"/>
              </a:rPr>
              <a:t> </a:t>
            </a:r>
            <a:r>
              <a:rPr sz="2200" b="0" dirty="0" err="1">
                <a:solidFill>
                  <a:srgbClr val="C8C8C8"/>
                </a:solidFill>
                <a:latin typeface="微软雅黑"/>
                <a:ea typeface="微软雅黑"/>
              </a:rPr>
              <a:t>落地最好的抓手</a:t>
            </a:r>
            <a:r>
              <a:rPr sz="2200" b="0" dirty="0">
                <a:solidFill>
                  <a:srgbClr val="C8C8C8"/>
                </a:solidFill>
                <a:latin typeface="微软雅黑"/>
                <a:ea typeface="微软雅黑"/>
              </a:rPr>
              <a:t>。</a:t>
            </a:r>
            <a:endParaRPr lang="en-US" sz="2200" b="0" dirty="0">
              <a:solidFill>
                <a:srgbClr val="C8C8C8"/>
              </a:solidFill>
              <a:latin typeface="微软雅黑"/>
              <a:ea typeface="微软雅黑"/>
            </a:endParaRPr>
          </a:p>
          <a:p>
            <a:pPr algn="l">
              <a:lnSpc>
                <a:spcPts val="3600"/>
              </a:lnSpc>
            </a:pPr>
            <a:endParaRPr lang="en-US" sz="2200" b="0" dirty="0">
              <a:solidFill>
                <a:srgbClr val="C8C8C8"/>
              </a:solidFill>
              <a:latin typeface="微软雅黑"/>
              <a:ea typeface="微软雅黑"/>
            </a:endParaRPr>
          </a:p>
          <a:p>
            <a:pPr>
              <a:lnSpc>
                <a:spcPts val="3600"/>
              </a:lnSpc>
            </a:pPr>
            <a:r>
              <a:rPr lang="en-US" sz="1600" dirty="0">
                <a:solidFill>
                  <a:srgbClr val="FF0000"/>
                </a:solidFill>
                <a:latin typeface="微软雅黑"/>
                <a:ea typeface="微软雅黑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http://117.143.214.90:8000/</a:t>
            </a:r>
            <a:r>
              <a:rPr lang="en-US" sz="1600" dirty="0">
                <a:solidFill>
                  <a:srgbClr val="C8C8C8"/>
                </a:solidFill>
                <a:latin typeface="微软雅黑"/>
                <a:ea typeface="微软雅黑"/>
              </a:rPr>
              <a:t>  </a:t>
            </a:r>
            <a:r>
              <a:rPr lang="zh-CN" altLang="en-US" sz="1600" dirty="0">
                <a:solidFill>
                  <a:srgbClr val="C8C8C8"/>
                </a:solidFill>
                <a:latin typeface="微软雅黑"/>
                <a:ea typeface="微软雅黑"/>
              </a:rPr>
              <a:t>用户名：</a:t>
            </a:r>
            <a:r>
              <a:rPr lang="en-US" altLang="zh-CN" sz="1600" dirty="0">
                <a:solidFill>
                  <a:srgbClr val="C8C8C8"/>
                </a:solidFill>
                <a:latin typeface="微软雅黑"/>
                <a:ea typeface="微软雅黑"/>
              </a:rPr>
              <a:t>admin </a:t>
            </a:r>
            <a:r>
              <a:rPr lang="zh-CN" altLang="en-US" sz="1600" dirty="0">
                <a:solidFill>
                  <a:srgbClr val="C8C8C8"/>
                </a:solidFill>
                <a:latin typeface="微软雅黑"/>
                <a:ea typeface="微软雅黑"/>
              </a:rPr>
              <a:t>密码：</a:t>
            </a:r>
            <a:r>
              <a:rPr lang="en-US" altLang="zh-CN" sz="1600" dirty="0">
                <a:solidFill>
                  <a:srgbClr val="C8C8C8"/>
                </a:solidFill>
                <a:latin typeface="微软雅黑"/>
                <a:ea typeface="微软雅黑"/>
              </a:rPr>
              <a:t>admin123</a:t>
            </a:r>
            <a:endParaRPr sz="1600" b="0" dirty="0">
              <a:solidFill>
                <a:srgbClr val="C8C8C8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8C8C8"/>
                </a:solidFill>
                <a:latin typeface="微软雅黑"/>
                <a:ea typeface="微软雅黑"/>
              </a:rPr>
              <a:t>普炳软件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26364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C8C8C8"/>
                </a:solidFill>
                <a:latin typeface="Arial"/>
                <a:ea typeface="微软雅黑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</a:rPr>
              <a:t>01   THE LEVER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</a:rPr>
              <a:t>数字化、AI 要落地，核价是最好的抓手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微软雅黑"/>
                <a:ea typeface="微软雅黑"/>
              </a:rPr>
              <a:t>建设不是再上一个系统。是把公司最痛、最有规则、立刻能见效的事做成能力。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</a:rPr>
              <a:t>有规则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71800"/>
            <a:ext cx="310896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钢价政策、工艺、BOM、设变，本来就有企业口径。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适合写成引擎，而不是口头 AI。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057400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205740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233172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</a:rPr>
              <a:t>有真账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971800"/>
            <a:ext cx="310896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开给奇瑞的总成价、付给二级商的采购价，每月都要对账。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建设立刻碰到钱。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057400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05740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85632" y="233172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</a:rPr>
              <a:t>立刻见效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971800"/>
            <a:ext cx="310896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一事一议以前要熟练人员做好几天。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上传后引擎约 20 秒。AI 问的是这本真账。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</a:rPr>
              <a:t>普炳软件  ·  核价平台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</a:rPr>
              <a:t>02   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</a:rPr>
              <a:t>结构件自动核价平台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600" b="0">
                <a:solidFill>
                  <a:srgbClr val="6B6B6B"/>
                </a:solidFill>
                <a:latin typeface="微软雅黑"/>
                <a:ea typeface="微软雅黑"/>
              </a:rPr>
              <a:t>政策、BOM、工艺、变更纳入同一套规则。算出总成与采购对象价格，直接出协议；AI 解读动因。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spc="80">
                <a:solidFill>
                  <a:srgbClr val="D04A02"/>
                </a:solidFill>
                <a:latin typeface="Arial"/>
                <a:ea typeface="微软雅黑"/>
              </a:rPr>
              <a:t>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2608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2D2D"/>
                </a:solidFill>
                <a:latin typeface="微软雅黑"/>
                <a:ea typeface="微软雅黑"/>
              </a:rPr>
              <a:t>钢价一事一议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19456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219456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248716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spc="80">
                <a:solidFill>
                  <a:srgbClr val="D04A02"/>
                </a:solidFill>
                <a:latin typeface="Arial"/>
                <a:ea typeface="微软雅黑"/>
              </a:rPr>
              <a:t>BOM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92608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2D2D"/>
                </a:solidFill>
                <a:latin typeface="微软雅黑"/>
                <a:ea typeface="微软雅黑"/>
              </a:rPr>
              <a:t>结构与外购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9456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19456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85632" y="248716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spc="80">
                <a:solidFill>
                  <a:srgbClr val="D04A02"/>
                </a:solidFill>
                <a:latin typeface="Arial"/>
                <a:ea typeface="微软雅黑"/>
              </a:rP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92608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2D2D"/>
                </a:solidFill>
                <a:latin typeface="微软雅黑"/>
                <a:ea typeface="微软雅黑"/>
              </a:rPr>
              <a:t>工艺与模具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605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16052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45312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spc="80">
                <a:solidFill>
                  <a:srgbClr val="D04A02"/>
                </a:solidFill>
                <a:latin typeface="Arial"/>
                <a:ea typeface="微软雅黑"/>
              </a:rPr>
              <a:t>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89204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2D2D"/>
                </a:solidFill>
                <a:latin typeface="微软雅黑"/>
                <a:ea typeface="微软雅黑"/>
              </a:rPr>
              <a:t>工程变更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41605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416052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90872" y="445312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spc="80">
                <a:solidFill>
                  <a:srgbClr val="D04A02"/>
                </a:solidFill>
                <a:latin typeface="Arial"/>
                <a:ea typeface="微软雅黑"/>
              </a:rPr>
              <a:t>Costing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489204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2D2D"/>
                </a:solidFill>
                <a:latin typeface="微软雅黑"/>
                <a:ea typeface="微软雅黑"/>
              </a:rPr>
              <a:t>件价与总成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1605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416052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85632" y="445312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spc="80">
                <a:solidFill>
                  <a:srgbClr val="D04A02"/>
                </a:solidFill>
                <a:latin typeface="Arial"/>
                <a:ea typeface="微软雅黑"/>
              </a:rPr>
              <a:t>Contract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489204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2D2D"/>
                </a:solidFill>
                <a:latin typeface="微软雅黑"/>
                <a:ea typeface="微软雅黑"/>
              </a:rPr>
              <a:t>采购协议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</a:rPr>
              <a:t>普炳软件  ·  核价平台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</a:rPr>
              <a:t>03  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</a:rPr>
              <a:t>不是把 Excel 做得更复杂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2120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2120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A8A8A"/>
                </a:solidFill>
                <a:latin typeface="微软雅黑"/>
                <a:ea typeface="微软雅黑"/>
              </a:rPr>
              <a:t>不是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6634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D2D2D"/>
                </a:solidFill>
                <a:latin typeface="微软雅黑"/>
                <a:ea typeface="微软雅黑"/>
              </a:rPr>
              <a:t>再做一张更大的表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74720"/>
            <a:ext cx="452628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公式在私人文件夹。口径靠骨干记忆。对奇瑞、对二级商，各执一份表，只能扯皮。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2120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2120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19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微软雅黑"/>
                <a:ea typeface="微软雅黑"/>
              </a:rPr>
              <a:t>而是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286000"/>
            <a:ext cx="46634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D2D2D"/>
                </a:solidFill>
                <a:latin typeface="微软雅黑"/>
                <a:ea typeface="微软雅黑"/>
              </a:rPr>
              <a:t>把核价变成公司能力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474720"/>
            <a:ext cx="45720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规则、依据、结果留在平台。人可以交接。这是数字化建设真正落地的那一步。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</a:rPr>
              <a:t>普炳软件  ·  核价平台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</a:rPr>
              <a:t>04   TWO 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</a:rPr>
              <a:t>两本钱要对齐，设变不能再是糊涂账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6118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74519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微软雅黑"/>
                <a:ea typeface="微软雅黑"/>
              </a:rPr>
              <a:t>商务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86000"/>
            <a:ext cx="31089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</a:rPr>
              <a:t>总成价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46120"/>
            <a:ext cx="31089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开票给奇瑞的售价。谈价、开票、对账看这一本。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36118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5544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874519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微软雅黑"/>
                <a:ea typeface="微软雅黑"/>
              </a:rPr>
              <a:t>采购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286000"/>
            <a:ext cx="31089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</a:rPr>
              <a:t>采购对象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246120"/>
            <a:ext cx="31089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向二级商采购的价。该付多少、协议怎么签看这一本。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36118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85632" y="1874519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微软雅黑"/>
                <a:ea typeface="微软雅黑"/>
              </a:rPr>
              <a:t>工程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286000"/>
            <a:ext cx="31089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</a:rPr>
              <a:t>当期用当期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3246120"/>
            <a:ext cx="31089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Excel 里设变是糊涂账。变更进系统，开票和应付一起跟上。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</a:rPr>
              <a:t>普炳软件  ·  核价平台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</a:rPr>
              <a:t>05   FIRST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</a:rPr>
              <a:t>第一价值：降低对人的依赖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2120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2120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A8A8A"/>
                </a:solidFill>
                <a:latin typeface="微软雅黑"/>
                <a:ea typeface="微软雅黑"/>
              </a:rPr>
              <a:t>以前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6634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200"/>
              </a:lnSpc>
            </a:pPr>
            <a:r>
              <a:rPr sz="3200" b="1">
                <a:solidFill>
                  <a:srgbClr val="2D2D2D"/>
                </a:solidFill>
                <a:latin typeface="微软雅黑"/>
                <a:ea typeface="微软雅黑"/>
              </a:rPr>
              <a:t>熟练人员</a:t>
            </a:r>
          </a:p>
          <a:p>
            <a:pPr algn="l">
              <a:lnSpc>
                <a:spcPts val="4200"/>
              </a:lnSpc>
            </a:pPr>
            <a:r>
              <a:rPr sz="3200" b="1">
                <a:solidFill>
                  <a:srgbClr val="2D2D2D"/>
                </a:solidFill>
                <a:latin typeface="微软雅黑"/>
                <a:ea typeface="微软雅黑"/>
              </a:rPr>
              <a:t>好几天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452628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一事一议、总成、采购对象靠骨干手感。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人一走，账就停。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2120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2120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19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微软雅黑"/>
                <a:ea typeface="微软雅黑"/>
              </a:rPr>
              <a:t>现在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286000"/>
            <a:ext cx="46634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200"/>
              </a:lnSpc>
            </a:pPr>
            <a:r>
              <a:rPr sz="3200" b="1">
                <a:solidFill>
                  <a:srgbClr val="2D2D2D"/>
                </a:solidFill>
                <a:latin typeface="微软雅黑"/>
                <a:ea typeface="微软雅黑"/>
              </a:rPr>
              <a:t>上传依据</a:t>
            </a:r>
          </a:p>
          <a:p>
            <a:pPr algn="l">
              <a:lnSpc>
                <a:spcPts val="4200"/>
              </a:lnSpc>
            </a:pPr>
            <a:r>
              <a:rPr sz="3200" b="1">
                <a:solidFill>
                  <a:srgbClr val="2D2D2D"/>
                </a:solidFill>
                <a:latin typeface="微软雅黑"/>
                <a:ea typeface="微软雅黑"/>
              </a:rPr>
              <a:t>约 20 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023360"/>
            <a:ext cx="45720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规则在引擎里。人请假，总成账和采购账照样能出。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能力属于公司。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</a:rPr>
              <a:t>普炳软件  ·  核价平台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</a:rPr>
              <a:t>06   SECOND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</a:rPr>
              <a:t>第二价值：溯源清楚，不必再扯皮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53212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53212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2880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</a:rPr>
              <a:t>哪份文件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600" b="0">
                <a:solidFill>
                  <a:srgbClr val="6B6B6B"/>
                </a:solidFill>
                <a:latin typeface="微软雅黑"/>
                <a:ea typeface="微软雅黑"/>
              </a:rPr>
              <a:t>当时用的 Excel 能找回，不是私人拷贝。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08760"/>
            <a:ext cx="553212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508760"/>
            <a:ext cx="553212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93408" y="182880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</a:rPr>
              <a:t>谁操作的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24688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600" b="0">
                <a:solidFill>
                  <a:srgbClr val="6B6B6B"/>
                </a:solidFill>
                <a:latin typeface="微软雅黑"/>
                <a:ea typeface="微软雅黑"/>
              </a:rPr>
              <a:t>上传、计算、变更有日志。对账问记录。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553212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794760"/>
            <a:ext cx="553212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11480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</a:rPr>
              <a:t>当期哪版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7548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600" b="0">
                <a:solidFill>
                  <a:srgbClr val="6B6B6B"/>
                </a:solidFill>
                <a:latin typeface="微软雅黑"/>
                <a:ea typeface="微软雅黑"/>
              </a:rPr>
              <a:t>钢价、BOM、工艺、设变按月对齐。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794760"/>
            <a:ext cx="553212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794760"/>
            <a:ext cx="553212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3408" y="411480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</a:rPr>
              <a:t>同一套规则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47548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600" b="0">
                <a:solidFill>
                  <a:srgbClr val="6B6B6B"/>
                </a:solidFill>
                <a:latin typeface="微软雅黑"/>
                <a:ea typeface="微软雅黑"/>
              </a:rPr>
              <a:t>开给奇瑞和付给二级商，同一引擎。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</a:rPr>
              <a:t>普炳软件  ·  核价平台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</a:rPr>
              <a:t>07  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</a:rPr>
              <a:t>四项价值，进的是公司而不是个人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53212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53212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1097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</a:rPr>
              <a:t>少绑人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06040"/>
            <a:ext cx="4937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6B6B6B"/>
                </a:solidFill>
                <a:latin typeface="微软雅黑"/>
                <a:ea typeface="微软雅黑"/>
              </a:rPr>
              <a:t>核价能力属于公司。熟练骨干好几天，变成约 20 秒。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08760"/>
            <a:ext cx="553212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508760"/>
            <a:ext cx="553212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3408" y="1764792"/>
            <a:ext cx="1097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10312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</a:rPr>
              <a:t>少扯皮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606040"/>
            <a:ext cx="4937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6B6B6B"/>
                </a:solidFill>
                <a:latin typeface="微软雅黑"/>
                <a:ea typeface="微软雅黑"/>
              </a:rPr>
              <a:t>文件、操作、当期依据可对。对奇瑞、对二级商、对财务同一本账。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94760"/>
            <a:ext cx="553212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553212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050792"/>
            <a:ext cx="1097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38912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</a:rPr>
              <a:t>算得一致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892040"/>
            <a:ext cx="4937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6B6B6B"/>
                </a:solidFill>
                <a:latin typeface="微软雅黑"/>
                <a:ea typeface="微软雅黑"/>
              </a:rPr>
              <a:t>同一套规则、同一套口径。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6B6B6B"/>
                </a:solidFill>
                <a:latin typeface="微软雅黑"/>
                <a:ea typeface="微软雅黑"/>
              </a:rPr>
              <a:t>总成售价和采购应付不再各算各的。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94760"/>
            <a:ext cx="553212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3794760"/>
            <a:ext cx="553212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93408" y="4050792"/>
            <a:ext cx="1097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438912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</a:rPr>
              <a:t>每月跟得上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4892040"/>
            <a:ext cx="4937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6B6B6B"/>
                </a:solidFill>
                <a:latin typeface="微软雅黑"/>
                <a:ea typeface="微软雅黑"/>
              </a:rPr>
              <a:t>钢价、BOM、工艺、工程变更进入系统。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6B6B6B"/>
                </a:solidFill>
                <a:latin typeface="微软雅黑"/>
                <a:ea typeface="微软雅黑"/>
              </a:rPr>
              <a:t>当月依据，当月计算。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</a:rPr>
              <a:t>普炳软件  ·  核价平台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</a:rPr>
              <a:t>08  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</a:rPr>
              <a:t>引擎把账算准，AI 把账讲明白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微软雅黑"/>
                <a:ea typeface="微软雅黑"/>
              </a:rPr>
              <a:t>这才是 AI 落地：不是让模型编价格，是让管理人员直接问公司的账。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90879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0292" cy="7315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56816"/>
            <a:ext cx="6400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D04A02"/>
                </a:solidFill>
                <a:latin typeface="Arial"/>
                <a:ea typeface="微软雅黑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56816"/>
            <a:ext cx="94183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700" b="0">
                <a:solidFill>
                  <a:srgbClr val="2D2D2D"/>
                </a:solidFill>
                <a:latin typeface="微软雅黑"/>
                <a:ea typeface="微软雅黑"/>
              </a:rPr>
              <a:t>这个月总成开给奇瑞的价，为什么涨了？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1090879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50292" cy="7315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779776"/>
            <a:ext cx="6400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D04A02"/>
                </a:solidFill>
                <a:latin typeface="Arial"/>
                <a:ea typeface="微软雅黑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779776"/>
            <a:ext cx="94183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700" b="0">
                <a:solidFill>
                  <a:srgbClr val="2D2D2D"/>
                </a:solidFill>
                <a:latin typeface="微软雅黑"/>
                <a:ea typeface="微软雅黑"/>
              </a:rPr>
              <a:t>向二级商采购的对象，哪些涨幅最大？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1090879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50292" cy="7315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602736"/>
            <a:ext cx="6400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D04A02"/>
                </a:solidFill>
                <a:latin typeface="Arial"/>
                <a:ea typeface="微软雅黑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602736"/>
            <a:ext cx="94183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700" b="0">
                <a:solidFill>
                  <a:srgbClr val="2D2D2D"/>
                </a:solidFill>
                <a:latin typeface="微软雅黑"/>
                <a:ea typeface="微软雅黑"/>
              </a:rPr>
              <a:t>工程变更之后，开票价和采购价各动了多少？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97680"/>
            <a:ext cx="1090879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297680"/>
            <a:ext cx="50292" cy="7315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425696"/>
            <a:ext cx="6400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D04A02"/>
                </a:solidFill>
                <a:latin typeface="Arial"/>
                <a:ea typeface="微软雅黑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25696"/>
            <a:ext cx="94183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700" b="0">
                <a:solidFill>
                  <a:srgbClr val="2D2D2D"/>
                </a:solidFill>
                <a:latin typeface="微软雅黑"/>
                <a:ea typeface="微软雅黑"/>
              </a:rPr>
              <a:t>这个总成和上个月差在哪里？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20640"/>
            <a:ext cx="1090879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5120640"/>
            <a:ext cx="50292" cy="7315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248656"/>
            <a:ext cx="6400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D04A02"/>
                </a:solidFill>
                <a:latin typeface="Arial"/>
                <a:ea typeface="微软雅黑"/>
              </a:rPr>
              <a:t>Q5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248656"/>
            <a:ext cx="94183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700" b="0">
                <a:solidFill>
                  <a:srgbClr val="2D2D2D"/>
                </a:solidFill>
                <a:latin typeface="微软雅黑"/>
                <a:ea typeface="微软雅黑"/>
              </a:rPr>
              <a:t>把本月成本变化整理一下。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</a:rPr>
              <a:t>普炳软件  ·  核价平台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</a:rPr>
              <a:t>09  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</a:rPr>
              <a:t>从找表，到直接问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A8A8A"/>
                </a:solidFill>
                <a:latin typeface="微软雅黑"/>
                <a:ea typeface="微软雅黑"/>
              </a:rPr>
              <a:t>过去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微软雅黑"/>
                <a:ea typeface="微软雅黑"/>
              </a:rPr>
              <a:t>现在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029200" cy="713232"/>
          </a:xfrm>
          <a:prstGeom prst="rect">
            <a:avLst/>
          </a:prstGeom>
          <a:solidFill>
            <a:srgbClr val="F3EEE6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11096"/>
            <a:ext cx="44805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6B6B6B"/>
                </a:solidFill>
                <a:latin typeface="微软雅黑"/>
                <a:ea typeface="微软雅黑"/>
              </a:rPr>
              <a:t>01    人找 Excel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5029200" cy="713232"/>
          </a:xfrm>
          <a:prstGeom prst="rect">
            <a:avLst/>
          </a:prstGeom>
          <a:solidFill>
            <a:srgbClr val="F3EEE6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34056"/>
            <a:ext cx="44805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6B6B6B"/>
                </a:solidFill>
                <a:latin typeface="微软雅黑"/>
                <a:ea typeface="微软雅黑"/>
              </a:rPr>
              <a:t>02    找数据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29000"/>
            <a:ext cx="5029200" cy="713232"/>
          </a:xfrm>
          <a:prstGeom prst="rect">
            <a:avLst/>
          </a:prstGeom>
          <a:solidFill>
            <a:srgbClr val="F3EEE6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557016"/>
            <a:ext cx="44805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6B6B6B"/>
                </a:solidFill>
                <a:latin typeface="微软雅黑"/>
                <a:ea typeface="微软雅黑"/>
              </a:rPr>
              <a:t>03    找公式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51960"/>
            <a:ext cx="5029200" cy="713232"/>
          </a:xfrm>
          <a:prstGeom prst="rect">
            <a:avLst/>
          </a:prstGeom>
          <a:solidFill>
            <a:srgbClr val="F3EEE6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379976"/>
            <a:ext cx="44805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6B6B6B"/>
                </a:solidFill>
                <a:latin typeface="微软雅黑"/>
                <a:ea typeface="微软雅黑"/>
              </a:rPr>
              <a:t>04    做分析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74920"/>
            <a:ext cx="5029200" cy="713232"/>
          </a:xfrm>
          <a:prstGeom prst="rect">
            <a:avLst/>
          </a:prstGeom>
          <a:solidFill>
            <a:srgbClr val="F3EEE6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202936"/>
            <a:ext cx="44805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6B6B6B"/>
                </a:solidFill>
                <a:latin typeface="微软雅黑"/>
                <a:ea typeface="微软雅黑"/>
              </a:rPr>
              <a:t>05    得出结论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783080"/>
            <a:ext cx="50292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92240" y="1783080"/>
            <a:ext cx="502920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1984248"/>
            <a:ext cx="4480560" cy="4937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2D2D2D"/>
                </a:solidFill>
                <a:latin typeface="微软雅黑"/>
                <a:ea typeface="微软雅黑"/>
              </a:rPr>
              <a:t>01    直接问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807208"/>
            <a:ext cx="50292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92240" y="2807208"/>
            <a:ext cx="502920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3008376"/>
            <a:ext cx="4480560" cy="4937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2D2D2D"/>
                </a:solidFill>
                <a:latin typeface="微软雅黑"/>
                <a:ea typeface="微软雅黑"/>
              </a:rPr>
              <a:t>02    系统取数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831336"/>
            <a:ext cx="50292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92240" y="3831336"/>
            <a:ext cx="502920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4032504"/>
            <a:ext cx="4480560" cy="4937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2D2D2D"/>
                </a:solidFill>
                <a:latin typeface="微软雅黑"/>
                <a:ea typeface="微软雅黑"/>
              </a:rPr>
              <a:t>03    核价引擎计算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855464"/>
            <a:ext cx="50292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92240" y="4855464"/>
            <a:ext cx="502920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12280" y="5056632"/>
            <a:ext cx="4480560" cy="4937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2D2D2D"/>
                </a:solidFill>
                <a:latin typeface="微软雅黑"/>
                <a:ea typeface="微软雅黑"/>
              </a:rPr>
              <a:t>04    AI 解释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</a:rPr>
              <a:t>普炳软件  ·  核价平台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</a:rPr>
              <a:t>10   ONE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</a:rPr>
              <a:t>采购、财务、管理人员，看见同一本账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6118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20240"/>
            <a:ext cx="3017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spc="80">
                <a:solidFill>
                  <a:srgbClr val="D04A02"/>
                </a:solidFill>
                <a:latin typeface="Arial"/>
                <a:ea typeface="微软雅黑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30175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2D2D2D"/>
                </a:solidFill>
                <a:latin typeface="微软雅黑"/>
                <a:ea typeface="微软雅黑"/>
              </a:rPr>
              <a:t>同一套数据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023360"/>
            <a:ext cx="30175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文件可溯，不是私人拷贝。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36118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5544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1920240"/>
            <a:ext cx="3017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spc="80">
                <a:solidFill>
                  <a:srgbClr val="D04A02"/>
                </a:solidFill>
                <a:latin typeface="Arial"/>
                <a:ea typeface="微软雅黑"/>
              </a:rPr>
              <a:t>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468880"/>
            <a:ext cx="30175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2D2D2D"/>
                </a:solidFill>
                <a:latin typeface="微软雅黑"/>
                <a:ea typeface="微软雅黑"/>
              </a:rPr>
              <a:t>同一套规则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4023360"/>
            <a:ext cx="30175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开给奇瑞、付给二级商，同一引擎。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36118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22208" y="1920240"/>
            <a:ext cx="3017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spc="80">
                <a:solidFill>
                  <a:srgbClr val="D04A02"/>
                </a:solidFill>
                <a:latin typeface="Arial"/>
                <a:ea typeface="微软雅黑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468880"/>
            <a:ext cx="30175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2D2D2D"/>
                </a:solidFill>
                <a:latin typeface="微软雅黑"/>
                <a:ea typeface="微软雅黑"/>
              </a:rPr>
              <a:t>同一套结果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4023360"/>
            <a:ext cx="30175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</a:rPr>
              <a:t>当月依据，当月结果。对账不必扯皮。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</a:rPr>
              <a:t>普炳软件  ·  核价平台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640080" y="1280160"/>
            <a:ext cx="1463040" cy="0"/>
          </a:xfrm>
          <a:prstGeom prst="line">
            <a:avLst/>
          </a:prstGeom>
          <a:ln w="28575">
            <a:solidFill>
              <a:srgbClr val="D04A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spc="160">
                <a:solidFill>
                  <a:srgbClr val="D04A02"/>
                </a:solidFill>
                <a:latin typeface="Arial"/>
                <a:ea typeface="微软雅黑"/>
              </a:rPr>
              <a:t>ONE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4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先把核价做成公司能力。</a:t>
            </a:r>
          </a:p>
          <a:p>
            <a:pPr algn="l">
              <a:lnSpc>
                <a:spcPts val="44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数字化建设和 AI 落地，就有了抓手。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C8C8C8"/>
                </a:solidFill>
                <a:latin typeface="微软雅黑"/>
                <a:ea typeface="微软雅黑"/>
              </a:rPr>
              <a:t>少绑人、少扯皮。开给奇瑞多少、付给二级商多少，约 20 秒能算清。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8C8C8"/>
                </a:solidFill>
                <a:latin typeface="微软雅黑"/>
                <a:ea typeface="微软雅黑"/>
              </a:rPr>
              <a:t>普炳软件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26364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C8C8C8"/>
                </a:solidFill>
                <a:latin typeface="Arial"/>
                <a:ea typeface="微软雅黑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480</Words>
  <Application>Microsoft Office PowerPoint</Application>
  <PresentationFormat>宽屏</PresentationFormat>
  <Paragraphs>156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普林 张</cp:lastModifiedBy>
  <cp:revision>2</cp:revision>
  <dcterms:created xsi:type="dcterms:W3CDTF">2013-01-27T09:14:16Z</dcterms:created>
  <dcterms:modified xsi:type="dcterms:W3CDTF">2026-10-10T04:23:59Z</dcterms:modified>
  <cp:category/>
</cp:coreProperties>
</file>