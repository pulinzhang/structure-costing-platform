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5486400" cy="329184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600" b="1" spc="40">
                <a:solidFill>
                  <a:srgbClr val="FFFFFF"/>
                </a:solidFill>
                <a:latin typeface="微软雅黑"/>
                <a:ea typeface="微软雅黑"/>
                <a:latin typeface="微软雅黑"/>
              </a:rPr>
              <a:t>普炳软件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170432"/>
            <a:ext cx="1463040" cy="0"/>
          </a:xfrm>
          <a:prstGeom prst="line">
            <a:avLst/>
          </a:prstGeom>
          <a:ln w="28575">
            <a:solidFill>
              <a:srgbClr val="D04A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353312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D04A02"/>
                </a:solidFill>
                <a:latin typeface="微软雅黑"/>
                <a:ea typeface="微软雅黑"/>
                <a:latin typeface="微软雅黑"/>
              </a:rPr>
              <a:t>从靠人做表，到公司能力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>
                <a:solidFill>
                  <a:srgbClr val="FFFFFF"/>
                </a:solidFill>
                <a:latin typeface="微软雅黑"/>
                <a:ea typeface="微软雅黑"/>
                <a:latin typeface="微软雅黑"/>
              </a:rPr>
              <a:t>结构件自动核价平台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42416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600"/>
              </a:lnSpc>
            </a:pPr>
            <a:r>
              <a:rPr sz="2200" b="0">
                <a:solidFill>
                  <a:srgbClr val="C8C8C8"/>
                </a:solidFill>
                <a:latin typeface="微软雅黑"/>
                <a:ea typeface="微软雅黑"/>
                <a:latin typeface="微软雅黑"/>
              </a:rPr>
              <a:t>管理人员是公司的建设者。</a:t>
            </a:r>
          </a:p>
          <a:p>
            <a:pPr algn="l">
              <a:lnSpc>
                <a:spcPts val="3600"/>
              </a:lnSpc>
            </a:pPr>
            <a:r>
              <a:rPr sz="2200" b="0">
                <a:solidFill>
                  <a:srgbClr val="C8C8C8"/>
                </a:solidFill>
                <a:latin typeface="微软雅黑"/>
                <a:ea typeface="微软雅黑"/>
                <a:latin typeface="微软雅黑"/>
              </a:rPr>
              <a:t>进出两头的钱，不能再交给几个人的表。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8C8C8"/>
                </a:solidFill>
                <a:latin typeface="微软雅黑"/>
                <a:ea typeface="微软雅黑"/>
                <a:latin typeface="微软雅黑"/>
              </a:rPr>
              <a:t>普炳软件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0" y="626364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C8C8C8"/>
                </a:solidFill>
                <a:latin typeface="Arial"/>
                <a:ea typeface="微软雅黑"/>
                <a:latin typeface="Arial"/>
              </a:rP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20624"/>
            <a:ext cx="256032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spc="200">
                <a:solidFill>
                  <a:srgbClr val="D04A02"/>
                </a:solidFill>
                <a:latin typeface="Arial"/>
                <a:ea typeface="微软雅黑"/>
                <a:latin typeface="Arial"/>
              </a:rPr>
              <a:t>01   THE COST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spc="20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现在核价绑在人身上，对账只能扯皮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2120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2120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04A02"/>
                </a:solidFill>
                <a:latin typeface="微软雅黑"/>
                <a:ea typeface="微软雅黑"/>
                <a:latin typeface="微软雅黑"/>
              </a:rPr>
              <a:t>对人依赖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6634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600"/>
              </a:lnSpc>
            </a:pPr>
            <a:r>
              <a:rPr sz="24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会做表的人一走，</a:t>
            </a:r>
          </a:p>
          <a:p>
            <a:pPr algn="l">
              <a:lnSpc>
                <a:spcPts val="3600"/>
              </a:lnSpc>
            </a:pPr>
            <a:r>
              <a:rPr sz="24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账就停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840480"/>
            <a:ext cx="452628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一事一议、总成、采购对象在骨干电脑里。</a:t>
            </a:r>
          </a:p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人请假、离职，公司没有第二本账。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2120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2120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874519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04A02"/>
                </a:solidFill>
                <a:latin typeface="微软雅黑"/>
                <a:ea typeface="微软雅黑"/>
                <a:latin typeface="微软雅黑"/>
              </a:rPr>
              <a:t>扯皮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286000"/>
            <a:ext cx="46634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600"/>
              </a:lnSpc>
            </a:pPr>
            <a:r>
              <a:rPr sz="24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各执一份 Excel，</a:t>
            </a:r>
          </a:p>
          <a:p>
            <a:pPr algn="l">
              <a:lnSpc>
                <a:spcPts val="3600"/>
              </a:lnSpc>
            </a:pPr>
            <a:r>
              <a:rPr sz="24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说不清哪一版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840480"/>
            <a:ext cx="457200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对奇瑞、对二级商、对内部财务，各拿各的表。用过哪份文件、谁改的、当期哪版，对不上就只能吵。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7620">
            <a:solidFill>
              <a:srgbClr val="E6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spc="40">
                <a:solidFill>
                  <a:srgbClr val="8A8A8A"/>
                </a:solidFill>
                <a:latin typeface="微软雅黑"/>
                <a:ea typeface="微软雅黑"/>
                <a:latin typeface="微软雅黑"/>
              </a:rPr>
              <a:t>普炳软件  ·  核价平台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565392"/>
            <a:ext cx="20116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spc="40">
                <a:solidFill>
                  <a:srgbClr val="8A8A8A"/>
                </a:solidFill>
                <a:latin typeface="Arial"/>
                <a:ea typeface="微软雅黑"/>
                <a:latin typeface="Arial"/>
              </a:rP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20624"/>
            <a:ext cx="256032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spc="200">
                <a:solidFill>
                  <a:srgbClr val="D04A02"/>
                </a:solidFill>
                <a:latin typeface="Arial"/>
                <a:ea typeface="微软雅黑"/>
                <a:latin typeface="Arial"/>
              </a:rPr>
              <a:t>02   THE 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spc="20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漏的是两本钱，吵的是设变这本糊涂账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36118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1874519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04A02"/>
                </a:solidFill>
                <a:latin typeface="微软雅黑"/>
                <a:ea typeface="微软雅黑"/>
                <a:latin typeface="微软雅黑"/>
              </a:rPr>
              <a:t>商务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28600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总成价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200400"/>
            <a:ext cx="31089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开票给奇瑞的售价。谈价、开票、对账看这一本。</a:t>
            </a:r>
          </a:p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算不准就是少收或超承诺。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1554480"/>
            <a:ext cx="36118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55448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1874519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04A02"/>
                </a:solidFill>
                <a:latin typeface="微软雅黑"/>
                <a:ea typeface="微软雅黑"/>
                <a:latin typeface="微软雅黑"/>
              </a:rPr>
              <a:t>采购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28600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采购对象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3200400"/>
            <a:ext cx="31089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向二级商采购的价。该付多少、协议怎么签看这一本。</a:t>
            </a:r>
          </a:p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算不准就是多付或付旧件。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554480"/>
            <a:ext cx="36118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155448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85632" y="1874519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04A02"/>
                </a:solidFill>
                <a:latin typeface="微软雅黑"/>
                <a:ea typeface="微软雅黑"/>
                <a:latin typeface="微软雅黑"/>
              </a:rPr>
              <a:t>工程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85632" y="228600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设变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85632" y="3200400"/>
            <a:ext cx="3108960" cy="2286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Excel 里改一层漏一层。</a:t>
            </a:r>
          </a:p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商务可能还按旧总成开票，采购可能还按旧对象付款。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7620">
            <a:solidFill>
              <a:srgbClr val="E6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spc="40">
                <a:solidFill>
                  <a:srgbClr val="8A8A8A"/>
                </a:solidFill>
                <a:latin typeface="微软雅黑"/>
                <a:ea typeface="微软雅黑"/>
                <a:latin typeface="微软雅黑"/>
              </a:rPr>
              <a:t>普炳软件  ·  核价平台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60" y="6565392"/>
            <a:ext cx="20116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spc="40">
                <a:solidFill>
                  <a:srgbClr val="8A8A8A"/>
                </a:solidFill>
                <a:latin typeface="Arial"/>
                <a:ea typeface="微软雅黑"/>
                <a:latin typeface="Arial"/>
              </a:rP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20624"/>
            <a:ext cx="256032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spc="200">
                <a:solidFill>
                  <a:srgbClr val="D04A02"/>
                </a:solidFill>
                <a:latin typeface="Arial"/>
                <a:ea typeface="微软雅黑"/>
                <a:latin typeface="Arial"/>
              </a:rPr>
              <a:t>03   THE CHOICE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spc="20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不做成公司能力，就是把公司的钱交给个人记忆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2120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2120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A8A8A"/>
                </a:solidFill>
                <a:latin typeface="微软雅黑"/>
                <a:ea typeface="微软雅黑"/>
                <a:latin typeface="微软雅黑"/>
              </a:rPr>
              <a:t>继续 Excel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663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</a:pPr>
            <a:r>
              <a:rPr sz="22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进出两头的账</a:t>
            </a:r>
          </a:p>
          <a:p>
            <a:pPr algn="l">
              <a:lnSpc>
                <a:spcPts val="3400"/>
              </a:lnSpc>
            </a:pPr>
            <a:r>
              <a:rPr sz="22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在私人文件夹里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452628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人走、表散、设变对不上。开给奇瑞的价和付给二级商的价，对账时只能各执一词。</a:t>
            </a:r>
          </a:p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管理人员说不过去。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2120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2120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874519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04A02"/>
                </a:solidFill>
                <a:latin typeface="微软雅黑"/>
                <a:ea typeface="微软雅黑"/>
                <a:latin typeface="微软雅黑"/>
              </a:rPr>
              <a:t>做成能力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286000"/>
            <a:ext cx="466344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3400"/>
              </a:lnSpc>
            </a:pPr>
            <a:r>
              <a:rPr sz="22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规则、依据、结果</a:t>
            </a:r>
          </a:p>
          <a:p>
            <a:pPr algn="l">
              <a:lnSpc>
                <a:spcPts val="3400"/>
              </a:lnSpc>
            </a:pPr>
            <a:r>
              <a:rPr sz="22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留在公司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794760"/>
            <a:ext cx="4572000" cy="17373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不是再做一张更大的表。是人可以交接，依据可以拿出，两本钱可以对上。</a:t>
            </a:r>
          </a:p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这才是建设。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7620">
            <a:solidFill>
              <a:srgbClr val="E6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spc="40">
                <a:solidFill>
                  <a:srgbClr val="8A8A8A"/>
                </a:solidFill>
                <a:latin typeface="微软雅黑"/>
                <a:ea typeface="微软雅黑"/>
                <a:latin typeface="微软雅黑"/>
              </a:rPr>
              <a:t>普炳软件  ·  核价平台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565392"/>
            <a:ext cx="20116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spc="40">
                <a:solidFill>
                  <a:srgbClr val="8A8A8A"/>
                </a:solidFill>
                <a:latin typeface="Arial"/>
                <a:ea typeface="微软雅黑"/>
                <a:latin typeface="Arial"/>
              </a:rP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20624"/>
            <a:ext cx="256032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spc="200">
                <a:solidFill>
                  <a:srgbClr val="D04A02"/>
                </a:solidFill>
                <a:latin typeface="Arial"/>
                <a:ea typeface="微软雅黑"/>
                <a:latin typeface="Arial"/>
              </a:rPr>
              <a:t>04   FIRST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spc="20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第一价值：核价不再绑在几个人身上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52120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54480"/>
            <a:ext cx="52120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8A8A8A"/>
                </a:solidFill>
                <a:latin typeface="微软雅黑"/>
                <a:ea typeface="微软雅黑"/>
                <a:latin typeface="微软雅黑"/>
              </a:rPr>
              <a:t>以前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6634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200"/>
              </a:lnSpc>
            </a:pPr>
            <a:r>
              <a:rPr sz="32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熟练人员</a:t>
            </a:r>
          </a:p>
          <a:p>
            <a:pPr algn="l">
              <a:lnSpc>
                <a:spcPts val="4200"/>
              </a:lnSpc>
            </a:pPr>
            <a:r>
              <a:rPr sz="32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好几天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023360"/>
            <a:ext cx="452628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一事一议靠骨干手感。人一走，这件事就停。</a:t>
            </a:r>
          </a:p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能力属于个人。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554480"/>
            <a:ext cx="521208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554480"/>
            <a:ext cx="52120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874519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D04A02"/>
                </a:solidFill>
                <a:latin typeface="微软雅黑"/>
                <a:ea typeface="微软雅黑"/>
                <a:latin typeface="微软雅黑"/>
              </a:rPr>
              <a:t>现在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286000"/>
            <a:ext cx="4663440" cy="10515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4200"/>
              </a:lnSpc>
            </a:pPr>
            <a:r>
              <a:rPr sz="32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上传依据</a:t>
            </a:r>
          </a:p>
          <a:p>
            <a:pPr algn="l">
              <a:lnSpc>
                <a:spcPts val="4200"/>
              </a:lnSpc>
            </a:pPr>
            <a:r>
              <a:rPr sz="32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约 20 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4023360"/>
            <a:ext cx="4572000" cy="1554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规则在引擎里。人请假，总成账和采购账照样能出。能力属于公司。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7620">
            <a:solidFill>
              <a:srgbClr val="E6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spc="40">
                <a:solidFill>
                  <a:srgbClr val="8A8A8A"/>
                </a:solidFill>
                <a:latin typeface="微软雅黑"/>
                <a:ea typeface="微软雅黑"/>
                <a:latin typeface="微软雅黑"/>
              </a:rPr>
              <a:t>普炳软件  ·  核价平台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6565392"/>
            <a:ext cx="20116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spc="40">
                <a:solidFill>
                  <a:srgbClr val="8A8A8A"/>
                </a:solidFill>
                <a:latin typeface="Arial"/>
                <a:ea typeface="微软雅黑"/>
                <a:latin typeface="Arial"/>
              </a:rP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20624"/>
            <a:ext cx="256032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spc="200">
                <a:solidFill>
                  <a:srgbClr val="D04A02"/>
                </a:solidFill>
                <a:latin typeface="Arial"/>
                <a:ea typeface="微软雅黑"/>
                <a:latin typeface="Arial"/>
              </a:rPr>
              <a:t>05   SECOND VALUE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spc="20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第二价值：依据能拿出，就不必再扯皮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08760"/>
            <a:ext cx="553212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508760"/>
            <a:ext cx="553212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82880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哪份文件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468880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6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当时用的 Excel 能找回，不是私人拷贝。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508760"/>
            <a:ext cx="553212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508760"/>
            <a:ext cx="553212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93408" y="182880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谁操作的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2468880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6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上传、计算、变更有日志。对账问记录。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794760"/>
            <a:ext cx="553212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3794760"/>
            <a:ext cx="553212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11480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当期哪版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754880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6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钢价、BOM、工艺、设变按月对齐。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794760"/>
            <a:ext cx="553212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3794760"/>
            <a:ext cx="553212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93408" y="4114800"/>
            <a:ext cx="49377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同一套规则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4754880"/>
            <a:ext cx="493776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6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开给奇瑞和付给二级商，同一引擎。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7620">
            <a:solidFill>
              <a:srgbClr val="E6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spc="40">
                <a:solidFill>
                  <a:srgbClr val="8A8A8A"/>
                </a:solidFill>
                <a:latin typeface="微软雅黑"/>
                <a:ea typeface="微软雅黑"/>
                <a:latin typeface="微软雅黑"/>
              </a:rPr>
              <a:t>普炳软件  ·  核价平台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6565392"/>
            <a:ext cx="20116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spc="40">
                <a:solidFill>
                  <a:srgbClr val="8A8A8A"/>
                </a:solidFill>
                <a:latin typeface="Arial"/>
                <a:ea typeface="微软雅黑"/>
                <a:latin typeface="Arial"/>
              </a:rP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20624"/>
            <a:ext cx="256032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spc="200">
                <a:solidFill>
                  <a:srgbClr val="D04A02"/>
                </a:solidFill>
                <a:latin typeface="Arial"/>
                <a:ea typeface="微软雅黑"/>
                <a:latin typeface="Arial"/>
              </a:rPr>
              <a:t>06   THE LEVER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spc="20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所以数字化、AI 落地，核价是最好的抓手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建设不是再上一个聊天工具。是把最痛、最有规则、立刻碰到钱的事做成公司能力。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6118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5740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3172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有规则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971800"/>
            <a:ext cx="310896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钢价政策、工艺、BOM、设变，本来就有企业口径。</a:t>
            </a:r>
          </a:p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适合写成引擎，而不是口头 AI。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057400"/>
            <a:ext cx="36118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05740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33172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有真账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971800"/>
            <a:ext cx="310896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开给奇瑞的总成价、付给二级商的采购价，每月都要对。</a:t>
            </a:r>
          </a:p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建设立刻碰到钱。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057400"/>
            <a:ext cx="3611880" cy="3931920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05740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2331720"/>
            <a:ext cx="31089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能见效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971800"/>
            <a:ext cx="3108960" cy="2560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账能复算、人能交接、依据能拿出。</a:t>
            </a:r>
          </a:p>
          <a:p>
            <a:pPr algn="l">
              <a:lnSpc>
                <a:spcPts val="2600"/>
              </a:lnSpc>
            </a:pPr>
            <a:r>
              <a:rPr sz="15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AI 问的是这本真账，不是编一个价。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7620">
            <a:solidFill>
              <a:srgbClr val="E6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spc="40">
                <a:solidFill>
                  <a:srgbClr val="8A8A8A"/>
                </a:solidFill>
                <a:latin typeface="微软雅黑"/>
                <a:ea typeface="微软雅黑"/>
                <a:latin typeface="微软雅黑"/>
              </a:rPr>
              <a:t>普炳软件  ·  核价平台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6565392"/>
            <a:ext cx="20116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spc="40">
                <a:solidFill>
                  <a:srgbClr val="8A8A8A"/>
                </a:solidFill>
                <a:latin typeface="Arial"/>
                <a:ea typeface="微软雅黑"/>
                <a:latin typeface="Arial"/>
              </a:rP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20624"/>
            <a:ext cx="256032" cy="54864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347472"/>
            <a:ext cx="91440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100" b="0" spc="200">
                <a:solidFill>
                  <a:srgbClr val="D04A02"/>
                </a:solidFill>
                <a:latin typeface="Arial"/>
                <a:ea typeface="微软雅黑"/>
                <a:latin typeface="Arial"/>
              </a:rPr>
              <a:t>07   THE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58368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spc="20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平台管这些依据，算出那两本账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6B6B6B"/>
                </a:solidFill>
                <a:latin typeface="微软雅黑"/>
                <a:ea typeface="微软雅黑"/>
                <a:latin typeface="微软雅黑"/>
              </a:rPr>
              <a:t>细则见面看。这一页只回答：它究竟管什么。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11680"/>
            <a:ext cx="36118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201168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331720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spc="80">
                <a:solidFill>
                  <a:srgbClr val="D04A02"/>
                </a:solidFill>
                <a:latin typeface="Arial"/>
                <a:ea typeface="微软雅黑"/>
                <a:latin typeface="Arial"/>
              </a:rPr>
              <a:t>Policy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78892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钢价一事一议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34840" y="2011680"/>
            <a:ext cx="36118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01168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90872" y="2331720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spc="80">
                <a:solidFill>
                  <a:srgbClr val="D04A02"/>
                </a:solidFill>
                <a:latin typeface="Arial"/>
                <a:ea typeface="微软雅黑"/>
                <a:latin typeface="Arial"/>
              </a:rPr>
              <a:t>BOM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78892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结构与外购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2011680"/>
            <a:ext cx="36118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201168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2331720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spc="80">
                <a:solidFill>
                  <a:srgbClr val="D04A02"/>
                </a:solidFill>
                <a:latin typeface="Arial"/>
                <a:ea typeface="微软雅黑"/>
                <a:latin typeface="Arial"/>
              </a:rP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5632" y="278892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工艺与模具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4069080"/>
            <a:ext cx="36118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0080" y="406908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389120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spc="80">
                <a:solidFill>
                  <a:srgbClr val="D04A02"/>
                </a:solidFill>
                <a:latin typeface="Arial"/>
                <a:ea typeface="微软雅黑"/>
                <a:latin typeface="Arial"/>
              </a:rPr>
              <a:t>Change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84632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工程变更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34840" y="4069080"/>
            <a:ext cx="36118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434840" y="406908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90872" y="4389120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spc="80">
                <a:solidFill>
                  <a:srgbClr val="D04A02"/>
                </a:solidFill>
                <a:latin typeface="Arial"/>
                <a:ea typeface="微软雅黑"/>
                <a:latin typeface="Arial"/>
              </a:rPr>
              <a:t>Costing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90872" y="484632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件价与总成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4069080"/>
            <a:ext cx="3611880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E6E0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29600" y="4069080"/>
            <a:ext cx="3611880" cy="41148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85632" y="4389120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spc="80">
                <a:solidFill>
                  <a:srgbClr val="D04A02"/>
                </a:solidFill>
                <a:latin typeface="Arial"/>
                <a:ea typeface="微软雅黑"/>
                <a:latin typeface="Arial"/>
              </a:rPr>
              <a:t>Contract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85632" y="4846320"/>
            <a:ext cx="31089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1">
                <a:solidFill>
                  <a:srgbClr val="2D2D2D"/>
                </a:solidFill>
                <a:latin typeface="微软雅黑"/>
                <a:ea typeface="微软雅黑"/>
                <a:latin typeface="微软雅黑"/>
              </a:rPr>
              <a:t>采购协议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0080" y="6510528"/>
            <a:ext cx="10908792" cy="0"/>
          </a:xfrm>
          <a:prstGeom prst="line">
            <a:avLst/>
          </a:prstGeom>
          <a:ln w="7620">
            <a:solidFill>
              <a:srgbClr val="E6E0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" y="6565392"/>
            <a:ext cx="548640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000" b="0" spc="40">
                <a:solidFill>
                  <a:srgbClr val="8A8A8A"/>
                </a:solidFill>
                <a:latin typeface="微软雅黑"/>
                <a:ea typeface="微软雅黑"/>
                <a:latin typeface="微软雅黑"/>
              </a:rPr>
              <a:t>普炳软件  ·  核价平台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6565392"/>
            <a:ext cx="2011680" cy="25603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/>
            <a:r>
              <a:rPr sz="1000" b="0" spc="40">
                <a:solidFill>
                  <a:srgbClr val="8A8A8A"/>
                </a:solidFill>
                <a:latin typeface="Arial"/>
                <a:ea typeface="微软雅黑"/>
                <a:latin typeface="Arial"/>
              </a:rP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4A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640080" y="1143000"/>
            <a:ext cx="1463040" cy="0"/>
          </a:xfrm>
          <a:prstGeom prst="line">
            <a:avLst/>
          </a:prstGeom>
          <a:ln w="28575">
            <a:solidFill>
              <a:srgbClr val="D04A0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40080" y="137160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spc="160">
                <a:solidFill>
                  <a:srgbClr val="D04A02"/>
                </a:solidFill>
                <a:latin typeface="Arial"/>
                <a:ea typeface="微软雅黑"/>
                <a:latin typeface="Arial"/>
              </a:rPr>
              <a:t>COME SEE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972800" cy="1234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latin typeface="微软雅黑"/>
              </a:rPr>
              <a:t>请来看三件事。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08960"/>
            <a:ext cx="6400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D04A02"/>
                </a:solidFill>
                <a:latin typeface="Arial"/>
                <a:ea typeface="微软雅黑"/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108960"/>
            <a:ext cx="100584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latin typeface="微软雅黑"/>
              </a:rPr>
              <a:t>人走了，账还在不在。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6400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D04A02"/>
                </a:solidFill>
                <a:latin typeface="Arial"/>
                <a:ea typeface="微软雅黑"/>
                <a:latin typeface="Arial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749039"/>
            <a:ext cx="100584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latin typeface="微软雅黑"/>
              </a:rPr>
              <a:t>依据能不能当场拿出。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64008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1400" b="0">
                <a:solidFill>
                  <a:srgbClr val="D04A02"/>
                </a:solidFill>
                <a:latin typeface="Arial"/>
                <a:ea typeface="微软雅黑"/>
                <a:latin typeface="Arial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4389120"/>
            <a:ext cx="10058400" cy="45720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/>
            <a:r>
              <a:rPr sz="2000" b="0">
                <a:solidFill>
                  <a:srgbClr val="FFFFFF"/>
                </a:solidFill>
                <a:latin typeface="微软雅黑"/>
                <a:ea typeface="微软雅黑"/>
                <a:latin typeface="微软雅黑"/>
              </a:rPr>
              <a:t>约 20 秒，两本账能不能出清。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C8C8C8"/>
                </a:solidFill>
                <a:latin typeface="微软雅黑"/>
                <a:ea typeface="微软雅黑"/>
                <a:latin typeface="微软雅黑"/>
              </a:rPr>
              <a:t>先把核价做成公司能力。数字化建设和 AI 落地，就有了抓手。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C8C8C8"/>
                </a:solidFill>
                <a:latin typeface="微软雅黑"/>
                <a:ea typeface="微软雅黑"/>
                <a:latin typeface="微软雅黑"/>
              </a:rPr>
              <a:t>普炳软件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6263640"/>
            <a:ext cx="20116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C8C8C8"/>
                </a:solidFill>
                <a:latin typeface="Arial"/>
                <a:ea typeface="微软雅黑"/>
                <a:latin typeface="Arial"/>
              </a:rP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